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Funnel Sans" panose="020B0604020202020204" charset="0"/>
      <p:regular r:id="rId12"/>
    </p:embeddedFont>
    <p:embeddedFont>
      <p:font typeface="Mona Sans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8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254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761649"/>
            <a:ext cx="13042821" cy="1417558"/>
          </a:xfrm>
          <a:prstGeom prst="rect">
            <a:avLst/>
          </a:prstGeom>
          <a:noFill/>
          <a:ln/>
        </p:spPr>
        <p:txBody>
          <a:bodyPr wrap="square" lIns="0" tIns="0" rIns="0" bIns="0" rtlCol="0" anchor="t"/>
          <a:lstStyle/>
          <a:p>
            <a:pPr marL="0" indent="0" algn="ctr">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MedVision AI: AI-Powered Medical Imaging Diagnosis System</a:t>
            </a:r>
            <a:endParaRPr lang="en-US" sz="4450" dirty="0"/>
          </a:p>
        </p:txBody>
      </p:sp>
      <p:sp>
        <p:nvSpPr>
          <p:cNvPr id="3" name="Text 1"/>
          <p:cNvSpPr/>
          <p:nvPr/>
        </p:nvSpPr>
        <p:spPr>
          <a:xfrm>
            <a:off x="793790" y="363283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Presented by: Akhilesh Girish Kulkarni</a:t>
            </a:r>
            <a:endParaRPr lang="en-US" sz="1750" dirty="0"/>
          </a:p>
        </p:txBody>
      </p:sp>
      <p:sp>
        <p:nvSpPr>
          <p:cNvPr id="4" name="Text 2"/>
          <p:cNvSpPr/>
          <p:nvPr/>
        </p:nvSpPr>
        <p:spPr>
          <a:xfrm>
            <a:off x="793790" y="425088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Course: MCA – Semester II</a:t>
            </a:r>
            <a:endParaRPr lang="en-US" sz="1750" dirty="0"/>
          </a:p>
        </p:txBody>
      </p:sp>
      <p:sp>
        <p:nvSpPr>
          <p:cNvPr id="5" name="Text 3"/>
          <p:cNvSpPr/>
          <p:nvPr/>
        </p:nvSpPr>
        <p:spPr>
          <a:xfrm>
            <a:off x="793790" y="486894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Institute: Sinhgad Institute of Management, Pune</a:t>
            </a:r>
            <a:endParaRPr lang="en-US" sz="1750" dirty="0"/>
          </a:p>
        </p:txBody>
      </p:sp>
      <p:sp>
        <p:nvSpPr>
          <p:cNvPr id="6" name="Text 4"/>
          <p:cNvSpPr/>
          <p:nvPr/>
        </p:nvSpPr>
        <p:spPr>
          <a:xfrm>
            <a:off x="793790" y="548699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Project Guide: Prof. Shobha Mishra</a:t>
            </a:r>
            <a:endParaRPr lang="en-US" sz="1750" dirty="0"/>
          </a:p>
        </p:txBody>
      </p:sp>
      <p:sp>
        <p:nvSpPr>
          <p:cNvPr id="7" name="Text 5"/>
          <p:cNvSpPr/>
          <p:nvPr/>
        </p:nvSpPr>
        <p:spPr>
          <a:xfrm>
            <a:off x="793790" y="610504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Academic Year: 2025–2026</a:t>
            </a:r>
            <a:endParaRPr lang="en-US" sz="1750" dirty="0"/>
          </a:p>
        </p:txBody>
      </p:sp>
      <p:sp>
        <p:nvSpPr>
          <p:cNvPr id="8" name="Rectangle 7">
            <a:extLst>
              <a:ext uri="{FF2B5EF4-FFF2-40B4-BE49-F238E27FC236}">
                <a16:creationId xmlns:a16="http://schemas.microsoft.com/office/drawing/2014/main" id="{7D27B0F3-1D30-E24A-4143-04D3C3068799}"/>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05783"/>
            <a:ext cx="7775496"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Introduction to MedVision AI</a:t>
            </a:r>
            <a:endParaRPr lang="en-US" sz="4450" dirty="0"/>
          </a:p>
        </p:txBody>
      </p:sp>
      <p:sp>
        <p:nvSpPr>
          <p:cNvPr id="3" name="Text 1"/>
          <p:cNvSpPr/>
          <p:nvPr/>
        </p:nvSpPr>
        <p:spPr>
          <a:xfrm>
            <a:off x="793790" y="2668191"/>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MedVision AI is an innovative, AI-based system designed to revolutionise the analysis of critical medical images such as X-rays, MRI, and CT scans. By leveraging advanced artificial intelligence, it aims to enhance disease detection and streamline diagnostic processes.</a:t>
            </a:r>
            <a:endParaRPr lang="en-US" sz="1750" dirty="0"/>
          </a:p>
        </p:txBody>
      </p:sp>
      <p:sp>
        <p:nvSpPr>
          <p:cNvPr id="4" name="Shape 2"/>
          <p:cNvSpPr/>
          <p:nvPr/>
        </p:nvSpPr>
        <p:spPr>
          <a:xfrm>
            <a:off x="793790" y="4012049"/>
            <a:ext cx="6407944" cy="1730812"/>
          </a:xfrm>
          <a:prstGeom prst="roundRect">
            <a:avLst>
              <a:gd name="adj" fmla="val 8453"/>
            </a:avLst>
          </a:prstGeom>
          <a:solidFill>
            <a:srgbClr val="181616">
              <a:alpha val="95000"/>
            </a:srgbClr>
          </a:solidFill>
          <a:ln w="30480">
            <a:solidFill>
              <a:srgbClr val="595959"/>
            </a:solidFill>
            <a:prstDash val="solid"/>
          </a:ln>
        </p:spPr>
      </p:sp>
      <p:sp>
        <p:nvSpPr>
          <p:cNvPr id="5" name="Shape 3"/>
          <p:cNvSpPr/>
          <p:nvPr/>
        </p:nvSpPr>
        <p:spPr>
          <a:xfrm>
            <a:off x="763310" y="4012049"/>
            <a:ext cx="121920" cy="1730812"/>
          </a:xfrm>
          <a:prstGeom prst="roundRect">
            <a:avLst>
              <a:gd name="adj" fmla="val 78139"/>
            </a:avLst>
          </a:prstGeom>
          <a:solidFill>
            <a:srgbClr val="FFFFFF"/>
          </a:solidFill>
          <a:ln/>
        </p:spPr>
      </p:sp>
      <p:sp>
        <p:nvSpPr>
          <p:cNvPr id="6" name="Text 4"/>
          <p:cNvSpPr/>
          <p:nvPr/>
        </p:nvSpPr>
        <p:spPr>
          <a:xfrm>
            <a:off x="1142524" y="42693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Core Functionality</a:t>
            </a:r>
            <a:endParaRPr lang="en-US" sz="2200" dirty="0"/>
          </a:p>
        </p:txBody>
      </p:sp>
      <p:sp>
        <p:nvSpPr>
          <p:cNvPr id="7" name="Text 5"/>
          <p:cNvSpPr/>
          <p:nvPr/>
        </p:nvSpPr>
        <p:spPr>
          <a:xfrm>
            <a:off x="1142524" y="4759762"/>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Automated analysis and diagnosis from uploaded medical images.</a:t>
            </a:r>
            <a:endParaRPr lang="en-US" sz="1750" dirty="0"/>
          </a:p>
        </p:txBody>
      </p:sp>
      <p:sp>
        <p:nvSpPr>
          <p:cNvPr id="8" name="Shape 6"/>
          <p:cNvSpPr/>
          <p:nvPr/>
        </p:nvSpPr>
        <p:spPr>
          <a:xfrm>
            <a:off x="7428548" y="4012049"/>
            <a:ext cx="6408063" cy="1730812"/>
          </a:xfrm>
          <a:prstGeom prst="roundRect">
            <a:avLst>
              <a:gd name="adj" fmla="val 8453"/>
            </a:avLst>
          </a:prstGeom>
          <a:solidFill>
            <a:srgbClr val="181616">
              <a:alpha val="95000"/>
            </a:srgbClr>
          </a:solidFill>
          <a:ln w="30480">
            <a:solidFill>
              <a:srgbClr val="595959"/>
            </a:solidFill>
            <a:prstDash val="solid"/>
          </a:ln>
        </p:spPr>
      </p:sp>
      <p:sp>
        <p:nvSpPr>
          <p:cNvPr id="9" name="Shape 7"/>
          <p:cNvSpPr/>
          <p:nvPr/>
        </p:nvSpPr>
        <p:spPr>
          <a:xfrm>
            <a:off x="7398067" y="4012049"/>
            <a:ext cx="121920" cy="1730812"/>
          </a:xfrm>
          <a:prstGeom prst="roundRect">
            <a:avLst>
              <a:gd name="adj" fmla="val 78139"/>
            </a:avLst>
          </a:prstGeom>
          <a:solidFill>
            <a:srgbClr val="FFFFFF"/>
          </a:solidFill>
          <a:ln/>
        </p:spPr>
      </p:sp>
      <p:sp>
        <p:nvSpPr>
          <p:cNvPr id="10" name="Text 8"/>
          <p:cNvSpPr/>
          <p:nvPr/>
        </p:nvSpPr>
        <p:spPr>
          <a:xfrm>
            <a:off x="7777282" y="42693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Target Users</a:t>
            </a:r>
            <a:endParaRPr lang="en-US" sz="2200" dirty="0"/>
          </a:p>
        </p:txBody>
      </p:sp>
      <p:sp>
        <p:nvSpPr>
          <p:cNvPr id="11" name="Text 9"/>
          <p:cNvSpPr/>
          <p:nvPr/>
        </p:nvSpPr>
        <p:spPr>
          <a:xfrm>
            <a:off x="7777282" y="4759762"/>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Assists medical professionals and students with intelligent insights.</a:t>
            </a:r>
            <a:endParaRPr lang="en-US" sz="1750" dirty="0"/>
          </a:p>
        </p:txBody>
      </p:sp>
      <p:sp>
        <p:nvSpPr>
          <p:cNvPr id="12" name="Text 10"/>
          <p:cNvSpPr/>
          <p:nvPr/>
        </p:nvSpPr>
        <p:spPr>
          <a:xfrm>
            <a:off x="793790" y="599801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Our primary objective is to improve diagnostic efficiency and provide rapid, intelligent medical image analysis, thereby supporting healthcare practitioners in making more informed decisions.</a:t>
            </a:r>
            <a:endParaRPr lang="en-US" sz="1750" dirty="0"/>
          </a:p>
        </p:txBody>
      </p:sp>
      <p:sp>
        <p:nvSpPr>
          <p:cNvPr id="13" name="Rectangle 12">
            <a:extLst>
              <a:ext uri="{FF2B5EF4-FFF2-40B4-BE49-F238E27FC236}">
                <a16:creationId xmlns:a16="http://schemas.microsoft.com/office/drawing/2014/main" id="{60E066B2-4978-7E94-9368-6E833D6A3ACE}"/>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63109"/>
            <a:ext cx="8523446"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Challenges in Existing Systems</a:t>
            </a:r>
            <a:endParaRPr lang="en-US" sz="4450" dirty="0"/>
          </a:p>
        </p:txBody>
      </p:sp>
      <p:sp>
        <p:nvSpPr>
          <p:cNvPr id="3" name="Text 1"/>
          <p:cNvSpPr/>
          <p:nvPr/>
        </p:nvSpPr>
        <p:spPr>
          <a:xfrm>
            <a:off x="793790" y="222551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Currently, medical image analysis heavily relies on manual interpretation by doctors, a process that demands extensive expertise and is inherently time-consuming. This conventional approach often lacks automated AI assistance, leading to several critical limitations.</a:t>
            </a:r>
            <a:endParaRPr lang="en-US" sz="1750" dirty="0"/>
          </a:p>
        </p:txBody>
      </p:sp>
      <p:sp>
        <p:nvSpPr>
          <p:cNvPr id="4" name="Shape 2"/>
          <p:cNvSpPr/>
          <p:nvPr/>
        </p:nvSpPr>
        <p:spPr>
          <a:xfrm>
            <a:off x="793790" y="3569375"/>
            <a:ext cx="6407944" cy="1685092"/>
          </a:xfrm>
          <a:prstGeom prst="roundRect">
            <a:avLst>
              <a:gd name="adj" fmla="val 5654"/>
            </a:avLst>
          </a:prstGeom>
          <a:solidFill>
            <a:srgbClr val="404040"/>
          </a:solidFill>
          <a:ln w="7620">
            <a:solidFill>
              <a:srgbClr val="595959"/>
            </a:solidFill>
            <a:prstDash val="solid"/>
          </a:ln>
        </p:spPr>
      </p:sp>
      <p:sp>
        <p:nvSpPr>
          <p:cNvPr id="5" name="Text 3"/>
          <p:cNvSpPr/>
          <p:nvPr/>
        </p:nvSpPr>
        <p:spPr>
          <a:xfrm>
            <a:off x="1028224" y="38038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ona Sans Semi Bold" pitchFamily="34" charset="0"/>
                <a:ea typeface="Mona Sans Semi Bold" pitchFamily="34" charset="-122"/>
                <a:cs typeface="Mona Sans Semi Bold" pitchFamily="34" charset="-120"/>
              </a:rPr>
              <a:t>Time-Consuming</a:t>
            </a:r>
            <a:endParaRPr lang="en-US" sz="2200" dirty="0"/>
          </a:p>
        </p:txBody>
      </p:sp>
      <p:sp>
        <p:nvSpPr>
          <p:cNvPr id="6" name="Text 4"/>
          <p:cNvSpPr/>
          <p:nvPr/>
        </p:nvSpPr>
        <p:spPr>
          <a:xfrm>
            <a:off x="1028224" y="4294227"/>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Funnel Sans" pitchFamily="34" charset="0"/>
                <a:ea typeface="Funnel Sans" pitchFamily="34" charset="-122"/>
                <a:cs typeface="Funnel Sans" pitchFamily="34" charset="-120"/>
              </a:rPr>
              <a:t>Manual analysis leads to slow diagnosis, delaying patient care.</a:t>
            </a:r>
            <a:endParaRPr lang="en-US" sz="1750" dirty="0"/>
          </a:p>
        </p:txBody>
      </p:sp>
      <p:sp>
        <p:nvSpPr>
          <p:cNvPr id="7" name="Shape 5"/>
          <p:cNvSpPr/>
          <p:nvPr/>
        </p:nvSpPr>
        <p:spPr>
          <a:xfrm>
            <a:off x="7428548" y="3569375"/>
            <a:ext cx="6408063" cy="1685092"/>
          </a:xfrm>
          <a:prstGeom prst="roundRect">
            <a:avLst>
              <a:gd name="adj" fmla="val 5654"/>
            </a:avLst>
          </a:prstGeom>
          <a:solidFill>
            <a:srgbClr val="404040"/>
          </a:solidFill>
          <a:ln w="7620">
            <a:solidFill>
              <a:srgbClr val="595959"/>
            </a:solidFill>
            <a:prstDash val="solid"/>
          </a:ln>
        </p:spPr>
      </p:sp>
      <p:sp>
        <p:nvSpPr>
          <p:cNvPr id="8" name="Text 6"/>
          <p:cNvSpPr/>
          <p:nvPr/>
        </p:nvSpPr>
        <p:spPr>
          <a:xfrm>
            <a:off x="7662982" y="38038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ona Sans Semi Bold" pitchFamily="34" charset="0"/>
                <a:ea typeface="Mona Sans Semi Bold" pitchFamily="34" charset="-122"/>
                <a:cs typeface="Mona Sans Semi Bold" pitchFamily="34" charset="-120"/>
              </a:rPr>
              <a:t>Human Error</a:t>
            </a:r>
            <a:endParaRPr lang="en-US" sz="2200" dirty="0"/>
          </a:p>
        </p:txBody>
      </p:sp>
      <p:sp>
        <p:nvSpPr>
          <p:cNvPr id="9" name="Text 7"/>
          <p:cNvSpPr/>
          <p:nvPr/>
        </p:nvSpPr>
        <p:spPr>
          <a:xfrm>
            <a:off x="7662982" y="4294227"/>
            <a:ext cx="5939195"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Funnel Sans" pitchFamily="34" charset="0"/>
                <a:ea typeface="Funnel Sans" pitchFamily="34" charset="-122"/>
                <a:cs typeface="Funnel Sans" pitchFamily="34" charset="-120"/>
              </a:rPr>
              <a:t>Reliance on individual expertise introduces a possibility of diagnostic errors.</a:t>
            </a:r>
            <a:endParaRPr lang="en-US" sz="1750" dirty="0"/>
          </a:p>
        </p:txBody>
      </p:sp>
      <p:sp>
        <p:nvSpPr>
          <p:cNvPr id="10" name="Shape 8"/>
          <p:cNvSpPr/>
          <p:nvPr/>
        </p:nvSpPr>
        <p:spPr>
          <a:xfrm>
            <a:off x="793790" y="5481280"/>
            <a:ext cx="6407944" cy="1685092"/>
          </a:xfrm>
          <a:prstGeom prst="roundRect">
            <a:avLst>
              <a:gd name="adj" fmla="val 5654"/>
            </a:avLst>
          </a:prstGeom>
          <a:solidFill>
            <a:srgbClr val="404040"/>
          </a:solidFill>
          <a:ln w="7620">
            <a:solidFill>
              <a:srgbClr val="595959"/>
            </a:solidFill>
            <a:prstDash val="solid"/>
          </a:ln>
        </p:spPr>
      </p:sp>
      <p:sp>
        <p:nvSpPr>
          <p:cNvPr id="11" name="Text 9"/>
          <p:cNvSpPr/>
          <p:nvPr/>
        </p:nvSpPr>
        <p:spPr>
          <a:xfrm>
            <a:off x="1028224" y="57157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ona Sans Semi Bold" pitchFamily="34" charset="0"/>
                <a:ea typeface="Mona Sans Semi Bold" pitchFamily="34" charset="-122"/>
                <a:cs typeface="Mona Sans Semi Bold" pitchFamily="34" charset="-120"/>
              </a:rPr>
              <a:t>No Centralised Data</a:t>
            </a:r>
            <a:endParaRPr lang="en-US" sz="2200" dirty="0"/>
          </a:p>
        </p:txBody>
      </p:sp>
      <p:sp>
        <p:nvSpPr>
          <p:cNvPr id="12" name="Text 10"/>
          <p:cNvSpPr/>
          <p:nvPr/>
        </p:nvSpPr>
        <p:spPr>
          <a:xfrm>
            <a:off x="1028224" y="6206133"/>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Funnel Sans" pitchFamily="34" charset="0"/>
                <a:ea typeface="Funnel Sans" pitchFamily="34" charset="-122"/>
                <a:cs typeface="Funnel Sans" pitchFamily="34" charset="-120"/>
              </a:rPr>
              <a:t>Lack of a unified system for storing and managing medical reports.</a:t>
            </a:r>
            <a:endParaRPr lang="en-US" sz="1750" dirty="0"/>
          </a:p>
        </p:txBody>
      </p:sp>
      <p:sp>
        <p:nvSpPr>
          <p:cNvPr id="13" name="Shape 11"/>
          <p:cNvSpPr/>
          <p:nvPr/>
        </p:nvSpPr>
        <p:spPr>
          <a:xfrm>
            <a:off x="7428548" y="5481280"/>
            <a:ext cx="6408063" cy="1685092"/>
          </a:xfrm>
          <a:prstGeom prst="roundRect">
            <a:avLst>
              <a:gd name="adj" fmla="val 5654"/>
            </a:avLst>
          </a:prstGeom>
          <a:solidFill>
            <a:srgbClr val="404040"/>
          </a:solidFill>
          <a:ln w="7620">
            <a:solidFill>
              <a:srgbClr val="595959"/>
            </a:solidFill>
            <a:prstDash val="solid"/>
          </a:ln>
        </p:spPr>
      </p:sp>
      <p:sp>
        <p:nvSpPr>
          <p:cNvPr id="14" name="Text 12"/>
          <p:cNvSpPr/>
          <p:nvPr/>
        </p:nvSpPr>
        <p:spPr>
          <a:xfrm>
            <a:off x="7662982" y="57157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Mona Sans Semi Bold" pitchFamily="34" charset="0"/>
                <a:ea typeface="Mona Sans Semi Bold" pitchFamily="34" charset="-122"/>
                <a:cs typeface="Mona Sans Semi Bold" pitchFamily="34" charset="-120"/>
              </a:rPr>
              <a:t>Limited Accessibility</a:t>
            </a:r>
            <a:endParaRPr lang="en-US" sz="2200" dirty="0"/>
          </a:p>
        </p:txBody>
      </p:sp>
      <p:sp>
        <p:nvSpPr>
          <p:cNvPr id="15" name="Text 13"/>
          <p:cNvSpPr/>
          <p:nvPr/>
        </p:nvSpPr>
        <p:spPr>
          <a:xfrm>
            <a:off x="7662982" y="6206133"/>
            <a:ext cx="5939195"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Funnel Sans" pitchFamily="34" charset="0"/>
                <a:ea typeface="Funnel Sans" pitchFamily="34" charset="-122"/>
                <a:cs typeface="Funnel Sans" pitchFamily="34" charset="-120"/>
              </a:rPr>
              <a:t>Absence of intelligent automated assistance restricts access to immediate insights.</a:t>
            </a:r>
            <a:endParaRPr lang="en-US" sz="1750" dirty="0"/>
          </a:p>
        </p:txBody>
      </p:sp>
      <p:sp>
        <p:nvSpPr>
          <p:cNvPr id="16" name="Rectangle 15">
            <a:extLst>
              <a:ext uri="{FF2B5EF4-FFF2-40B4-BE49-F238E27FC236}">
                <a16:creationId xmlns:a16="http://schemas.microsoft.com/office/drawing/2014/main" id="{9F91DADC-0E80-DA4F-3FAA-F55DE6AE097A}"/>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99498" y="779383"/>
            <a:ext cx="6241375" cy="508635"/>
          </a:xfrm>
          <a:prstGeom prst="rect">
            <a:avLst/>
          </a:prstGeom>
          <a:noFill/>
          <a:ln/>
        </p:spPr>
        <p:txBody>
          <a:bodyPr wrap="none" lIns="0" tIns="0" rIns="0" bIns="0" rtlCol="0" anchor="t"/>
          <a:lstStyle/>
          <a:p>
            <a:pPr marL="0" indent="0" algn="l">
              <a:lnSpc>
                <a:spcPts val="4000"/>
              </a:lnSpc>
              <a:buNone/>
            </a:pPr>
            <a:r>
              <a:rPr lang="en-US" sz="3200" dirty="0">
                <a:solidFill>
                  <a:srgbClr val="DDDDDD"/>
                </a:solidFill>
                <a:latin typeface="Mona Sans Semi Bold" pitchFamily="34" charset="0"/>
                <a:ea typeface="Mona Sans Semi Bold" pitchFamily="34" charset="-122"/>
                <a:cs typeface="Mona Sans Semi Bold" pitchFamily="34" charset="-120"/>
              </a:rPr>
              <a:t>The Imperative for MedVision AI</a:t>
            </a:r>
            <a:endParaRPr lang="en-US" sz="3200" dirty="0"/>
          </a:p>
        </p:txBody>
      </p:sp>
      <p:sp>
        <p:nvSpPr>
          <p:cNvPr id="3" name="Text 1"/>
          <p:cNvSpPr/>
          <p:nvPr/>
        </p:nvSpPr>
        <p:spPr>
          <a:xfrm>
            <a:off x="1699498" y="1521619"/>
            <a:ext cx="11231285" cy="447199"/>
          </a:xfrm>
          <a:prstGeom prst="rect">
            <a:avLst/>
          </a:prstGeom>
          <a:noFill/>
          <a:ln/>
        </p:spPr>
        <p:txBody>
          <a:bodyPr wrap="squar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The growing number of medical cases and the critical need for faster, more accurate diagnoses highlight the urgency for an advanced system like MedVision AI. It addresses the existing bottlenecks by reducing human workload and enhancing diagnostic precision through artificial intelligence.</a:t>
            </a:r>
            <a:endParaRPr lang="en-US" sz="1250" dirty="0"/>
          </a:p>
        </p:txBody>
      </p:sp>
      <p:sp>
        <p:nvSpPr>
          <p:cNvPr id="4" name="Shape 2"/>
          <p:cNvSpPr/>
          <p:nvPr/>
        </p:nvSpPr>
        <p:spPr>
          <a:xfrm>
            <a:off x="1699498" y="2100143"/>
            <a:ext cx="651034" cy="976551"/>
          </a:xfrm>
          <a:prstGeom prst="roundRect">
            <a:avLst>
              <a:gd name="adj" fmla="val 360033"/>
            </a:avLst>
          </a:prstGeom>
          <a:solidFill>
            <a:srgbClr val="404040"/>
          </a:solidFill>
          <a:ln w="7620">
            <a:solidFill>
              <a:srgbClr val="595959"/>
            </a:solidFill>
            <a:prstDash val="solid"/>
          </a:ln>
        </p:spPr>
      </p:sp>
      <p:sp>
        <p:nvSpPr>
          <p:cNvPr id="5" name="Text 3"/>
          <p:cNvSpPr/>
          <p:nvPr/>
        </p:nvSpPr>
        <p:spPr>
          <a:xfrm>
            <a:off x="1902976" y="2435781"/>
            <a:ext cx="244078" cy="305157"/>
          </a:xfrm>
          <a:prstGeom prst="rect">
            <a:avLst/>
          </a:prstGeom>
          <a:noFill/>
          <a:ln/>
        </p:spPr>
        <p:txBody>
          <a:bodyPr wrap="none" lIns="0" tIns="0" rIns="0" bIns="0" rtlCol="0" anchor="t"/>
          <a:lstStyle/>
          <a:p>
            <a:pPr marL="0" indent="0" algn="l">
              <a:lnSpc>
                <a:spcPts val="1900"/>
              </a:lnSpc>
              <a:buNone/>
            </a:pPr>
            <a:r>
              <a:rPr lang="en-US" sz="1900" dirty="0">
                <a:solidFill>
                  <a:srgbClr val="FFFFFF"/>
                </a:solidFill>
                <a:latin typeface="Mona Sans Semi Bold" pitchFamily="34" charset="0"/>
                <a:ea typeface="Mona Sans Semi Bold" pitchFamily="34" charset="-122"/>
                <a:cs typeface="Mona Sans Semi Bold" pitchFamily="34" charset="-120"/>
              </a:rPr>
              <a:t>1</a:t>
            </a:r>
            <a:endParaRPr lang="en-US" sz="1900" dirty="0"/>
          </a:p>
        </p:txBody>
      </p:sp>
      <p:sp>
        <p:nvSpPr>
          <p:cNvPr id="6" name="Text 4"/>
          <p:cNvSpPr/>
          <p:nvPr/>
        </p:nvSpPr>
        <p:spPr>
          <a:xfrm>
            <a:off x="2467332" y="2262902"/>
            <a:ext cx="2202656" cy="254317"/>
          </a:xfrm>
          <a:prstGeom prst="rect">
            <a:avLst/>
          </a:prstGeom>
          <a:noFill/>
          <a:ln/>
        </p:spPr>
        <p:txBody>
          <a:bodyPr wrap="none" lIns="0" tIns="0" rIns="0" bIns="0" rtlCol="0" anchor="t"/>
          <a:lstStyle/>
          <a:p>
            <a:pPr marL="0" indent="0" algn="l">
              <a:lnSpc>
                <a:spcPts val="2000"/>
              </a:lnSpc>
              <a:buNone/>
            </a:pPr>
            <a:r>
              <a:rPr lang="en-US" sz="1600" dirty="0">
                <a:solidFill>
                  <a:srgbClr val="8F8F8F"/>
                </a:solidFill>
                <a:latin typeface="Mona Sans Semi Bold" pitchFamily="34" charset="0"/>
                <a:ea typeface="Mona Sans Semi Bold" pitchFamily="34" charset="-122"/>
                <a:cs typeface="Mona Sans Semi Bold" pitchFamily="34" charset="-120"/>
              </a:rPr>
              <a:t>Accelerated Diagnosis</a:t>
            </a:r>
            <a:endParaRPr lang="en-US" sz="1600" dirty="0"/>
          </a:p>
        </p:txBody>
      </p:sp>
      <p:sp>
        <p:nvSpPr>
          <p:cNvPr id="7" name="Text 5"/>
          <p:cNvSpPr/>
          <p:nvPr/>
        </p:nvSpPr>
        <p:spPr>
          <a:xfrm>
            <a:off x="2467332" y="2587228"/>
            <a:ext cx="10463451" cy="223599"/>
          </a:xfrm>
          <a:prstGeom prst="rect">
            <a:avLst/>
          </a:prstGeom>
          <a:noFill/>
          <a:ln/>
        </p:spPr>
        <p:txBody>
          <a:bodyPr wrap="non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To meet the demands of increasing patient volumes.</a:t>
            </a:r>
            <a:endParaRPr lang="en-US" sz="1250" dirty="0"/>
          </a:p>
        </p:txBody>
      </p:sp>
      <p:sp>
        <p:nvSpPr>
          <p:cNvPr id="8" name="Shape 6"/>
          <p:cNvSpPr/>
          <p:nvPr/>
        </p:nvSpPr>
        <p:spPr>
          <a:xfrm>
            <a:off x="1699498" y="3193494"/>
            <a:ext cx="651034" cy="976551"/>
          </a:xfrm>
          <a:prstGeom prst="roundRect">
            <a:avLst>
              <a:gd name="adj" fmla="val 360033"/>
            </a:avLst>
          </a:prstGeom>
          <a:solidFill>
            <a:srgbClr val="404040"/>
          </a:solidFill>
          <a:ln w="7620">
            <a:solidFill>
              <a:srgbClr val="595959"/>
            </a:solidFill>
            <a:prstDash val="solid"/>
          </a:ln>
        </p:spPr>
      </p:sp>
      <p:sp>
        <p:nvSpPr>
          <p:cNvPr id="9" name="Text 7"/>
          <p:cNvSpPr/>
          <p:nvPr/>
        </p:nvSpPr>
        <p:spPr>
          <a:xfrm>
            <a:off x="1902976" y="3529132"/>
            <a:ext cx="244078" cy="305157"/>
          </a:xfrm>
          <a:prstGeom prst="rect">
            <a:avLst/>
          </a:prstGeom>
          <a:noFill/>
          <a:ln/>
        </p:spPr>
        <p:txBody>
          <a:bodyPr wrap="none" lIns="0" tIns="0" rIns="0" bIns="0" rtlCol="0" anchor="t"/>
          <a:lstStyle/>
          <a:p>
            <a:pPr marL="0" indent="0" algn="l">
              <a:lnSpc>
                <a:spcPts val="1900"/>
              </a:lnSpc>
              <a:buNone/>
            </a:pPr>
            <a:r>
              <a:rPr lang="en-US" sz="1900" dirty="0">
                <a:solidFill>
                  <a:srgbClr val="FFFFFF"/>
                </a:solidFill>
                <a:latin typeface="Mona Sans Semi Bold" pitchFamily="34" charset="0"/>
                <a:ea typeface="Mona Sans Semi Bold" pitchFamily="34" charset="-122"/>
                <a:cs typeface="Mona Sans Semi Bold" pitchFamily="34" charset="-120"/>
              </a:rPr>
              <a:t>2</a:t>
            </a:r>
            <a:endParaRPr lang="en-US" sz="1900" dirty="0"/>
          </a:p>
        </p:txBody>
      </p:sp>
      <p:sp>
        <p:nvSpPr>
          <p:cNvPr id="10" name="Text 8"/>
          <p:cNvSpPr/>
          <p:nvPr/>
        </p:nvSpPr>
        <p:spPr>
          <a:xfrm>
            <a:off x="2467332" y="3356253"/>
            <a:ext cx="2034659" cy="254317"/>
          </a:xfrm>
          <a:prstGeom prst="rect">
            <a:avLst/>
          </a:prstGeom>
          <a:noFill/>
          <a:ln/>
        </p:spPr>
        <p:txBody>
          <a:bodyPr wrap="none" lIns="0" tIns="0" rIns="0" bIns="0" rtlCol="0" anchor="t"/>
          <a:lstStyle/>
          <a:p>
            <a:pPr marL="0" indent="0" algn="l">
              <a:lnSpc>
                <a:spcPts val="2000"/>
              </a:lnSpc>
              <a:buNone/>
            </a:pPr>
            <a:r>
              <a:rPr lang="en-US" sz="1600" dirty="0">
                <a:solidFill>
                  <a:srgbClr val="8F8F8F"/>
                </a:solidFill>
                <a:latin typeface="Mona Sans Semi Bold" pitchFamily="34" charset="0"/>
                <a:ea typeface="Mona Sans Semi Bold" pitchFamily="34" charset="-122"/>
                <a:cs typeface="Mona Sans Semi Bold" pitchFamily="34" charset="-120"/>
              </a:rPr>
              <a:t>Workload Reduction</a:t>
            </a:r>
            <a:endParaRPr lang="en-US" sz="1600" dirty="0"/>
          </a:p>
        </p:txBody>
      </p:sp>
      <p:sp>
        <p:nvSpPr>
          <p:cNvPr id="11" name="Text 9"/>
          <p:cNvSpPr/>
          <p:nvPr/>
        </p:nvSpPr>
        <p:spPr>
          <a:xfrm>
            <a:off x="2467332" y="3680579"/>
            <a:ext cx="10463451" cy="223599"/>
          </a:xfrm>
          <a:prstGeom prst="rect">
            <a:avLst/>
          </a:prstGeom>
          <a:noFill/>
          <a:ln/>
        </p:spPr>
        <p:txBody>
          <a:bodyPr wrap="non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Alleviating the burden on medical professionals.</a:t>
            </a:r>
            <a:endParaRPr lang="en-US" sz="1250" dirty="0"/>
          </a:p>
        </p:txBody>
      </p:sp>
      <p:sp>
        <p:nvSpPr>
          <p:cNvPr id="12" name="Shape 10"/>
          <p:cNvSpPr/>
          <p:nvPr/>
        </p:nvSpPr>
        <p:spPr>
          <a:xfrm>
            <a:off x="1699498" y="4286845"/>
            <a:ext cx="651034" cy="976551"/>
          </a:xfrm>
          <a:prstGeom prst="roundRect">
            <a:avLst>
              <a:gd name="adj" fmla="val 360033"/>
            </a:avLst>
          </a:prstGeom>
          <a:solidFill>
            <a:srgbClr val="404040"/>
          </a:solidFill>
          <a:ln w="7620">
            <a:solidFill>
              <a:srgbClr val="595959"/>
            </a:solidFill>
            <a:prstDash val="solid"/>
          </a:ln>
        </p:spPr>
      </p:sp>
      <p:sp>
        <p:nvSpPr>
          <p:cNvPr id="13" name="Text 11"/>
          <p:cNvSpPr/>
          <p:nvPr/>
        </p:nvSpPr>
        <p:spPr>
          <a:xfrm>
            <a:off x="1902976" y="4622483"/>
            <a:ext cx="244078" cy="305157"/>
          </a:xfrm>
          <a:prstGeom prst="rect">
            <a:avLst/>
          </a:prstGeom>
          <a:noFill/>
          <a:ln/>
        </p:spPr>
        <p:txBody>
          <a:bodyPr wrap="none" lIns="0" tIns="0" rIns="0" bIns="0" rtlCol="0" anchor="t"/>
          <a:lstStyle/>
          <a:p>
            <a:pPr marL="0" indent="0" algn="l">
              <a:lnSpc>
                <a:spcPts val="1900"/>
              </a:lnSpc>
              <a:buNone/>
            </a:pPr>
            <a:r>
              <a:rPr lang="en-US" sz="1900" dirty="0">
                <a:solidFill>
                  <a:srgbClr val="FFFFFF"/>
                </a:solidFill>
                <a:latin typeface="Mona Sans Semi Bold" pitchFamily="34" charset="0"/>
                <a:ea typeface="Mona Sans Semi Bold" pitchFamily="34" charset="-122"/>
                <a:cs typeface="Mona Sans Semi Bold" pitchFamily="34" charset="-120"/>
              </a:rPr>
              <a:t>3</a:t>
            </a:r>
            <a:endParaRPr lang="en-US" sz="1900" dirty="0"/>
          </a:p>
        </p:txBody>
      </p:sp>
      <p:sp>
        <p:nvSpPr>
          <p:cNvPr id="14" name="Text 12"/>
          <p:cNvSpPr/>
          <p:nvPr/>
        </p:nvSpPr>
        <p:spPr>
          <a:xfrm>
            <a:off x="2467332" y="4449604"/>
            <a:ext cx="2034659" cy="254317"/>
          </a:xfrm>
          <a:prstGeom prst="rect">
            <a:avLst/>
          </a:prstGeom>
          <a:noFill/>
          <a:ln/>
        </p:spPr>
        <p:txBody>
          <a:bodyPr wrap="none" lIns="0" tIns="0" rIns="0" bIns="0" rtlCol="0" anchor="t"/>
          <a:lstStyle/>
          <a:p>
            <a:pPr marL="0" indent="0" algn="l">
              <a:lnSpc>
                <a:spcPts val="2000"/>
              </a:lnSpc>
              <a:buNone/>
            </a:pPr>
            <a:r>
              <a:rPr lang="en-US" sz="1600" dirty="0">
                <a:solidFill>
                  <a:srgbClr val="8F8F8F"/>
                </a:solidFill>
                <a:latin typeface="Mona Sans Semi Bold" pitchFamily="34" charset="0"/>
                <a:ea typeface="Mona Sans Semi Bold" pitchFamily="34" charset="-122"/>
                <a:cs typeface="Mona Sans Semi Bold" pitchFamily="34" charset="-120"/>
              </a:rPr>
              <a:t>Enhanced Accuracy</a:t>
            </a:r>
            <a:endParaRPr lang="en-US" sz="1600" dirty="0"/>
          </a:p>
        </p:txBody>
      </p:sp>
      <p:sp>
        <p:nvSpPr>
          <p:cNvPr id="15" name="Text 13"/>
          <p:cNvSpPr/>
          <p:nvPr/>
        </p:nvSpPr>
        <p:spPr>
          <a:xfrm>
            <a:off x="2467332" y="4773930"/>
            <a:ext cx="10463451" cy="223599"/>
          </a:xfrm>
          <a:prstGeom prst="rect">
            <a:avLst/>
          </a:prstGeom>
          <a:noFill/>
          <a:ln/>
        </p:spPr>
        <p:txBody>
          <a:bodyPr wrap="non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Leveraging AI to minimise human error and improve diagnostic reliability.</a:t>
            </a:r>
            <a:endParaRPr lang="en-US" sz="1250" dirty="0"/>
          </a:p>
        </p:txBody>
      </p:sp>
      <p:sp>
        <p:nvSpPr>
          <p:cNvPr id="16" name="Shape 14"/>
          <p:cNvSpPr/>
          <p:nvPr/>
        </p:nvSpPr>
        <p:spPr>
          <a:xfrm>
            <a:off x="1699498" y="5380196"/>
            <a:ext cx="651034" cy="976551"/>
          </a:xfrm>
          <a:prstGeom prst="roundRect">
            <a:avLst>
              <a:gd name="adj" fmla="val 360033"/>
            </a:avLst>
          </a:prstGeom>
          <a:solidFill>
            <a:srgbClr val="404040"/>
          </a:solidFill>
          <a:ln w="7620">
            <a:solidFill>
              <a:srgbClr val="595959"/>
            </a:solidFill>
            <a:prstDash val="solid"/>
          </a:ln>
        </p:spPr>
      </p:sp>
      <p:sp>
        <p:nvSpPr>
          <p:cNvPr id="17" name="Text 15"/>
          <p:cNvSpPr/>
          <p:nvPr/>
        </p:nvSpPr>
        <p:spPr>
          <a:xfrm>
            <a:off x="1902976" y="5715833"/>
            <a:ext cx="244078" cy="305157"/>
          </a:xfrm>
          <a:prstGeom prst="rect">
            <a:avLst/>
          </a:prstGeom>
          <a:noFill/>
          <a:ln/>
        </p:spPr>
        <p:txBody>
          <a:bodyPr wrap="none" lIns="0" tIns="0" rIns="0" bIns="0" rtlCol="0" anchor="t"/>
          <a:lstStyle/>
          <a:p>
            <a:pPr marL="0" indent="0" algn="l">
              <a:lnSpc>
                <a:spcPts val="1900"/>
              </a:lnSpc>
              <a:buNone/>
            </a:pPr>
            <a:r>
              <a:rPr lang="en-US" sz="1900" dirty="0">
                <a:solidFill>
                  <a:srgbClr val="FFFFFF"/>
                </a:solidFill>
                <a:latin typeface="Mona Sans Semi Bold" pitchFamily="34" charset="0"/>
                <a:ea typeface="Mona Sans Semi Bold" pitchFamily="34" charset="-122"/>
                <a:cs typeface="Mona Sans Semi Bold" pitchFamily="34" charset="-120"/>
              </a:rPr>
              <a:t>4</a:t>
            </a:r>
            <a:endParaRPr lang="en-US" sz="1900" dirty="0"/>
          </a:p>
        </p:txBody>
      </p:sp>
      <p:sp>
        <p:nvSpPr>
          <p:cNvPr id="18" name="Text 16"/>
          <p:cNvSpPr/>
          <p:nvPr/>
        </p:nvSpPr>
        <p:spPr>
          <a:xfrm>
            <a:off x="2467332" y="5542955"/>
            <a:ext cx="2104787" cy="254317"/>
          </a:xfrm>
          <a:prstGeom prst="rect">
            <a:avLst/>
          </a:prstGeom>
          <a:noFill/>
          <a:ln/>
        </p:spPr>
        <p:txBody>
          <a:bodyPr wrap="none" lIns="0" tIns="0" rIns="0" bIns="0" rtlCol="0" anchor="t"/>
          <a:lstStyle/>
          <a:p>
            <a:pPr marL="0" indent="0" algn="l">
              <a:lnSpc>
                <a:spcPts val="2000"/>
              </a:lnSpc>
              <a:buNone/>
            </a:pPr>
            <a:r>
              <a:rPr lang="en-US" sz="1600" dirty="0">
                <a:solidFill>
                  <a:srgbClr val="8F8F8F"/>
                </a:solidFill>
                <a:latin typeface="Mona Sans Semi Bold" pitchFamily="34" charset="0"/>
                <a:ea typeface="Mona Sans Semi Bold" pitchFamily="34" charset="-122"/>
                <a:cs typeface="Mona Sans Semi Bold" pitchFamily="34" charset="-120"/>
              </a:rPr>
              <a:t>Intelligent Assistance</a:t>
            </a:r>
            <a:endParaRPr lang="en-US" sz="1600" dirty="0"/>
          </a:p>
        </p:txBody>
      </p:sp>
      <p:sp>
        <p:nvSpPr>
          <p:cNvPr id="19" name="Text 17"/>
          <p:cNvSpPr/>
          <p:nvPr/>
        </p:nvSpPr>
        <p:spPr>
          <a:xfrm>
            <a:off x="2467332" y="5867281"/>
            <a:ext cx="10463451" cy="223599"/>
          </a:xfrm>
          <a:prstGeom prst="rect">
            <a:avLst/>
          </a:prstGeom>
          <a:noFill/>
          <a:ln/>
        </p:spPr>
        <p:txBody>
          <a:bodyPr wrap="non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Providing automated, data-driven insights for complex cases.</a:t>
            </a:r>
            <a:endParaRPr lang="en-US" sz="1250" dirty="0"/>
          </a:p>
        </p:txBody>
      </p:sp>
      <p:sp>
        <p:nvSpPr>
          <p:cNvPr id="20" name="Shape 18"/>
          <p:cNvSpPr/>
          <p:nvPr/>
        </p:nvSpPr>
        <p:spPr>
          <a:xfrm>
            <a:off x="1699498" y="6473547"/>
            <a:ext cx="651034" cy="976551"/>
          </a:xfrm>
          <a:prstGeom prst="roundRect">
            <a:avLst>
              <a:gd name="adj" fmla="val 360033"/>
            </a:avLst>
          </a:prstGeom>
          <a:solidFill>
            <a:srgbClr val="404040"/>
          </a:solidFill>
          <a:ln w="7620">
            <a:solidFill>
              <a:srgbClr val="595959"/>
            </a:solidFill>
            <a:prstDash val="solid"/>
          </a:ln>
        </p:spPr>
      </p:sp>
      <p:sp>
        <p:nvSpPr>
          <p:cNvPr id="21" name="Text 19"/>
          <p:cNvSpPr/>
          <p:nvPr/>
        </p:nvSpPr>
        <p:spPr>
          <a:xfrm>
            <a:off x="1902976" y="6809184"/>
            <a:ext cx="244078" cy="305157"/>
          </a:xfrm>
          <a:prstGeom prst="rect">
            <a:avLst/>
          </a:prstGeom>
          <a:noFill/>
          <a:ln/>
        </p:spPr>
        <p:txBody>
          <a:bodyPr wrap="none" lIns="0" tIns="0" rIns="0" bIns="0" rtlCol="0" anchor="t"/>
          <a:lstStyle/>
          <a:p>
            <a:pPr marL="0" indent="0" algn="l">
              <a:lnSpc>
                <a:spcPts val="1900"/>
              </a:lnSpc>
              <a:buNone/>
            </a:pPr>
            <a:r>
              <a:rPr lang="en-US" sz="1900" dirty="0">
                <a:solidFill>
                  <a:srgbClr val="FFFFFF"/>
                </a:solidFill>
                <a:latin typeface="Mona Sans Semi Bold" pitchFamily="34" charset="0"/>
                <a:ea typeface="Mona Sans Semi Bold" pitchFamily="34" charset="-122"/>
                <a:cs typeface="Mona Sans Semi Bold" pitchFamily="34" charset="-120"/>
              </a:rPr>
              <a:t>5</a:t>
            </a:r>
            <a:endParaRPr lang="en-US" sz="1900" dirty="0"/>
          </a:p>
        </p:txBody>
      </p:sp>
      <p:sp>
        <p:nvSpPr>
          <p:cNvPr id="22" name="Text 20"/>
          <p:cNvSpPr/>
          <p:nvPr/>
        </p:nvSpPr>
        <p:spPr>
          <a:xfrm>
            <a:off x="2467332" y="6636306"/>
            <a:ext cx="2725103" cy="254317"/>
          </a:xfrm>
          <a:prstGeom prst="rect">
            <a:avLst/>
          </a:prstGeom>
          <a:noFill/>
          <a:ln/>
        </p:spPr>
        <p:txBody>
          <a:bodyPr wrap="none" lIns="0" tIns="0" rIns="0" bIns="0" rtlCol="0" anchor="t"/>
          <a:lstStyle/>
          <a:p>
            <a:pPr marL="0" indent="0" algn="l">
              <a:lnSpc>
                <a:spcPts val="2000"/>
              </a:lnSpc>
              <a:buNone/>
            </a:pPr>
            <a:r>
              <a:rPr lang="en-US" sz="1600" dirty="0">
                <a:solidFill>
                  <a:srgbClr val="8F8F8F"/>
                </a:solidFill>
                <a:latin typeface="Mona Sans Semi Bold" pitchFamily="34" charset="0"/>
                <a:ea typeface="Mona Sans Semi Bold" pitchFamily="34" charset="-122"/>
                <a:cs typeface="Mona Sans Semi Bold" pitchFamily="34" charset="-120"/>
              </a:rPr>
              <a:t>Digital Report Management</a:t>
            </a:r>
            <a:endParaRPr lang="en-US" sz="1600" dirty="0"/>
          </a:p>
        </p:txBody>
      </p:sp>
      <p:sp>
        <p:nvSpPr>
          <p:cNvPr id="23" name="Text 21"/>
          <p:cNvSpPr/>
          <p:nvPr/>
        </p:nvSpPr>
        <p:spPr>
          <a:xfrm>
            <a:off x="2467332" y="6960632"/>
            <a:ext cx="10463451" cy="223599"/>
          </a:xfrm>
          <a:prstGeom prst="rect">
            <a:avLst/>
          </a:prstGeom>
          <a:noFill/>
          <a:ln/>
        </p:spPr>
        <p:txBody>
          <a:bodyPr wrap="none" lIns="0" tIns="0" rIns="0" bIns="0" rtlCol="0" anchor="t"/>
          <a:lstStyle/>
          <a:p>
            <a:pPr marL="0" indent="0" algn="l">
              <a:lnSpc>
                <a:spcPts val="1750"/>
              </a:lnSpc>
              <a:buNone/>
            </a:pPr>
            <a:r>
              <a:rPr lang="en-US" sz="1250" dirty="0">
                <a:solidFill>
                  <a:srgbClr val="8F8F8F"/>
                </a:solidFill>
                <a:latin typeface="Funnel Sans" pitchFamily="34" charset="0"/>
                <a:ea typeface="Funnel Sans" pitchFamily="34" charset="-122"/>
                <a:cs typeface="Funnel Sans" pitchFamily="34" charset="-120"/>
              </a:rPr>
              <a:t>For efficient storage and retrieval of all medical reports.</a:t>
            </a:r>
            <a:endParaRPr lang="en-US" sz="1250" dirty="0"/>
          </a:p>
        </p:txBody>
      </p:sp>
      <p:sp>
        <p:nvSpPr>
          <p:cNvPr id="24" name="Rectangle 23">
            <a:extLst>
              <a:ext uri="{FF2B5EF4-FFF2-40B4-BE49-F238E27FC236}">
                <a16:creationId xmlns:a16="http://schemas.microsoft.com/office/drawing/2014/main" id="{AA944B81-B272-ECB5-2CF3-AC73396E45B2}"/>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33619"/>
            <a:ext cx="8018264"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Project Objectives and Scope</a:t>
            </a:r>
            <a:endParaRPr lang="en-US" sz="4450" dirty="0"/>
          </a:p>
        </p:txBody>
      </p:sp>
      <p:sp>
        <p:nvSpPr>
          <p:cNvPr id="3" name="Text 1"/>
          <p:cNvSpPr/>
          <p:nvPr/>
        </p:nvSpPr>
        <p:spPr>
          <a:xfrm>
            <a:off x="793790" y="249602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MedVision AI is being developed with clear objectives to create an impactful tool for the medical community. The system's scope ensures its immediate utility while paving the way for future advancements and broader applications.</a:t>
            </a:r>
            <a:endParaRPr lang="en-US" sz="1750" dirty="0"/>
          </a:p>
        </p:txBody>
      </p:sp>
      <p:sp>
        <p:nvSpPr>
          <p:cNvPr id="4" name="Shape 2"/>
          <p:cNvSpPr/>
          <p:nvPr/>
        </p:nvSpPr>
        <p:spPr>
          <a:xfrm>
            <a:off x="630436" y="3476982"/>
            <a:ext cx="6571417" cy="3418999"/>
          </a:xfrm>
          <a:prstGeom prst="roundRect">
            <a:avLst>
              <a:gd name="adj" fmla="val 4777"/>
            </a:avLst>
          </a:prstGeom>
          <a:solidFill>
            <a:srgbClr val="FFF6F7">
              <a:alpha val="95000"/>
            </a:srgbClr>
          </a:solidFill>
          <a:ln/>
        </p:spPr>
      </p:sp>
      <p:sp>
        <p:nvSpPr>
          <p:cNvPr id="5" name="Text 3"/>
          <p:cNvSpPr/>
          <p:nvPr/>
        </p:nvSpPr>
        <p:spPr>
          <a:xfrm>
            <a:off x="857250" y="370379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Mona Sans Semi Bold" pitchFamily="34" charset="0"/>
                <a:ea typeface="Mona Sans Semi Bold" pitchFamily="34" charset="-122"/>
                <a:cs typeface="Mona Sans Semi Bold" pitchFamily="34" charset="-120"/>
              </a:rPr>
              <a:t>Key Objectives</a:t>
            </a:r>
            <a:endParaRPr lang="en-US" sz="2650" dirty="0"/>
          </a:p>
        </p:txBody>
      </p:sp>
      <p:sp>
        <p:nvSpPr>
          <p:cNvPr id="6" name="Text 4"/>
          <p:cNvSpPr/>
          <p:nvPr/>
        </p:nvSpPr>
        <p:spPr>
          <a:xfrm>
            <a:off x="857250" y="4355902"/>
            <a:ext cx="6117788"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000000"/>
                </a:solidFill>
                <a:latin typeface="Funnel Sans" pitchFamily="34" charset="0"/>
                <a:ea typeface="Funnel Sans" pitchFamily="34" charset="-122"/>
                <a:cs typeface="Funnel Sans" pitchFamily="34" charset="-120"/>
              </a:rPr>
              <a:t>Develop an AI-based medical image analysis system.</a:t>
            </a:r>
            <a:endParaRPr lang="en-US" sz="1750" dirty="0"/>
          </a:p>
          <a:p>
            <a:pPr marL="342900" indent="-342900" algn="l">
              <a:lnSpc>
                <a:spcPts val="2850"/>
              </a:lnSpc>
              <a:buSzPct val="100000"/>
              <a:buChar char="•"/>
            </a:pPr>
            <a:r>
              <a:rPr lang="en-US" sz="1750" dirty="0">
                <a:solidFill>
                  <a:srgbClr val="000000"/>
                </a:solidFill>
                <a:latin typeface="Funnel Sans" pitchFamily="34" charset="0"/>
                <a:ea typeface="Funnel Sans" pitchFamily="34" charset="-122"/>
                <a:cs typeface="Funnel Sans" pitchFamily="34" charset="-120"/>
              </a:rPr>
              <a:t>Enable secure upload of MRI, CT, and X-ray images.</a:t>
            </a:r>
            <a:endParaRPr lang="en-US" sz="1750" dirty="0"/>
          </a:p>
          <a:p>
            <a:pPr marL="342900" indent="-342900" algn="l">
              <a:lnSpc>
                <a:spcPts val="2850"/>
              </a:lnSpc>
              <a:buSzPct val="100000"/>
              <a:buChar char="•"/>
            </a:pPr>
            <a:r>
              <a:rPr lang="en-US" sz="1750" dirty="0">
                <a:solidFill>
                  <a:srgbClr val="000000"/>
                </a:solidFill>
                <a:latin typeface="Funnel Sans" pitchFamily="34" charset="0"/>
                <a:ea typeface="Funnel Sans" pitchFamily="34" charset="-122"/>
                <a:cs typeface="Funnel Sans" pitchFamily="34" charset="-120"/>
              </a:rPr>
              <a:t>Provide automated AI-driven diagnosis.</a:t>
            </a:r>
            <a:endParaRPr lang="en-US" sz="1750" dirty="0"/>
          </a:p>
          <a:p>
            <a:pPr marL="342900" indent="-342900" algn="l">
              <a:lnSpc>
                <a:spcPts val="2850"/>
              </a:lnSpc>
              <a:buSzPct val="100000"/>
              <a:buChar char="•"/>
            </a:pPr>
            <a:r>
              <a:rPr lang="en-US" sz="1750" dirty="0">
                <a:solidFill>
                  <a:srgbClr val="000000"/>
                </a:solidFill>
                <a:latin typeface="Funnel Sans" pitchFamily="34" charset="0"/>
                <a:ea typeface="Funnel Sans" pitchFamily="34" charset="-122"/>
                <a:cs typeface="Funnel Sans" pitchFamily="34" charset="-120"/>
              </a:rPr>
              <a:t>Implement a database for report storage.</a:t>
            </a:r>
            <a:endParaRPr lang="en-US" sz="1750" dirty="0"/>
          </a:p>
          <a:p>
            <a:pPr marL="342900" indent="-342900" algn="l">
              <a:lnSpc>
                <a:spcPts val="2850"/>
              </a:lnSpc>
              <a:buSzPct val="100000"/>
              <a:buChar char="•"/>
            </a:pPr>
            <a:r>
              <a:rPr lang="en-US" sz="1750" dirty="0">
                <a:solidFill>
                  <a:srgbClr val="000000"/>
                </a:solidFill>
                <a:latin typeface="Funnel Sans" pitchFamily="34" charset="0"/>
                <a:ea typeface="Funnel Sans" pitchFamily="34" charset="-122"/>
                <a:cs typeface="Funnel Sans" pitchFamily="34" charset="-120"/>
              </a:rPr>
              <a:t>Ensure secure user login and registration.</a:t>
            </a:r>
            <a:endParaRPr lang="en-US" sz="1750" dirty="0"/>
          </a:p>
        </p:txBody>
      </p:sp>
      <p:sp>
        <p:nvSpPr>
          <p:cNvPr id="7" name="Text 5"/>
          <p:cNvSpPr/>
          <p:nvPr/>
        </p:nvSpPr>
        <p:spPr>
          <a:xfrm>
            <a:off x="7599521" y="370379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DDDDDD"/>
                </a:solidFill>
                <a:latin typeface="Mona Sans Semi Bold" pitchFamily="34" charset="0"/>
                <a:ea typeface="Mona Sans Semi Bold" pitchFamily="34" charset="-122"/>
                <a:cs typeface="Mona Sans Semi Bold" pitchFamily="34" charset="-120"/>
              </a:rPr>
              <a:t>Project Scope</a:t>
            </a:r>
            <a:endParaRPr lang="en-US" sz="2650" dirty="0"/>
          </a:p>
        </p:txBody>
      </p:sp>
      <p:sp>
        <p:nvSpPr>
          <p:cNvPr id="8" name="Text 6"/>
          <p:cNvSpPr/>
          <p:nvPr/>
        </p:nvSpPr>
        <p:spPr>
          <a:xfrm>
            <a:off x="7599521" y="4355902"/>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Initially, MedVision AI will serve as a valuable resource for medical students, doctors, and researchers. Its modular design allows for seamless expansion:</a:t>
            </a:r>
            <a:endParaRPr lang="en-US" sz="1750" dirty="0"/>
          </a:p>
        </p:txBody>
      </p:sp>
      <p:sp>
        <p:nvSpPr>
          <p:cNvPr id="9" name="Text 7"/>
          <p:cNvSpPr/>
          <p:nvPr/>
        </p:nvSpPr>
        <p:spPr>
          <a:xfrm>
            <a:off x="7599521" y="5648682"/>
            <a:ext cx="6244709" cy="116800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8F8F8F"/>
                </a:solidFill>
                <a:latin typeface="Funnel Sans" pitchFamily="34" charset="0"/>
                <a:ea typeface="Funnel Sans" pitchFamily="34" charset="-122"/>
                <a:cs typeface="Funnel Sans" pitchFamily="34" charset="-120"/>
              </a:rPr>
              <a:t>Scalable for hospital integration.</a:t>
            </a:r>
            <a:endParaRPr lang="en-US" sz="1750" dirty="0"/>
          </a:p>
          <a:p>
            <a:pPr marL="342900" indent="-342900" algn="l">
              <a:lnSpc>
                <a:spcPts val="2850"/>
              </a:lnSpc>
              <a:buSzPct val="100000"/>
              <a:buChar char="•"/>
            </a:pPr>
            <a:r>
              <a:rPr lang="en-US" sz="1750" dirty="0">
                <a:solidFill>
                  <a:srgbClr val="8F8F8F"/>
                </a:solidFill>
                <a:latin typeface="Funnel Sans" pitchFamily="34" charset="0"/>
                <a:ea typeface="Funnel Sans" pitchFamily="34" charset="-122"/>
                <a:cs typeface="Funnel Sans" pitchFamily="34" charset="-120"/>
              </a:rPr>
              <a:t>Future-proof, with capabilities for advanced AI model integration.</a:t>
            </a:r>
            <a:endParaRPr lang="en-US" sz="1750" dirty="0"/>
          </a:p>
        </p:txBody>
      </p:sp>
      <p:sp>
        <p:nvSpPr>
          <p:cNvPr id="10" name="Rectangle 9">
            <a:extLst>
              <a:ext uri="{FF2B5EF4-FFF2-40B4-BE49-F238E27FC236}">
                <a16:creationId xmlns:a16="http://schemas.microsoft.com/office/drawing/2014/main" id="{C15E3B08-58F1-6A89-002B-D5084A8F65FC}"/>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966079" y="887849"/>
            <a:ext cx="4849058" cy="484584"/>
          </a:xfrm>
          <a:prstGeom prst="rect">
            <a:avLst/>
          </a:prstGeom>
          <a:noFill/>
          <a:ln/>
        </p:spPr>
        <p:txBody>
          <a:bodyPr wrap="none" lIns="0" tIns="0" rIns="0" bIns="0" rtlCol="0" anchor="t"/>
          <a:lstStyle/>
          <a:p>
            <a:pPr marL="0" indent="0" algn="l">
              <a:lnSpc>
                <a:spcPts val="3800"/>
              </a:lnSpc>
              <a:buNone/>
            </a:pPr>
            <a:r>
              <a:rPr lang="en-US" sz="3050" dirty="0">
                <a:solidFill>
                  <a:srgbClr val="DDDDDD"/>
                </a:solidFill>
                <a:latin typeface="Mona Sans Semi Bold" pitchFamily="34" charset="0"/>
                <a:ea typeface="Mona Sans Semi Bold" pitchFamily="34" charset="-122"/>
                <a:cs typeface="Mona Sans Semi Bold" pitchFamily="34" charset="-120"/>
              </a:rPr>
              <a:t>Technological Foundation</a:t>
            </a:r>
            <a:endParaRPr lang="en-US" sz="3050" dirty="0"/>
          </a:p>
        </p:txBody>
      </p:sp>
      <p:sp>
        <p:nvSpPr>
          <p:cNvPr id="3" name="Text 1"/>
          <p:cNvSpPr/>
          <p:nvPr/>
        </p:nvSpPr>
        <p:spPr>
          <a:xfrm>
            <a:off x="1966079" y="1584365"/>
            <a:ext cx="10698123" cy="417433"/>
          </a:xfrm>
          <a:prstGeom prst="rect">
            <a:avLst/>
          </a:prstGeom>
          <a:noFill/>
          <a:ln/>
        </p:spPr>
        <p:txBody>
          <a:bodyPr wrap="square" lIns="0" tIns="0" rIns="0" bIns="0" rtlCol="0" anchor="t"/>
          <a:lstStyle/>
          <a:p>
            <a:pPr marL="0" indent="0" algn="l">
              <a:lnSpc>
                <a:spcPts val="1600"/>
              </a:lnSpc>
              <a:buNone/>
            </a:pPr>
            <a:r>
              <a:rPr lang="en-US" sz="1200" dirty="0">
                <a:solidFill>
                  <a:srgbClr val="8F8F8F"/>
                </a:solidFill>
                <a:latin typeface="Funnel Sans" pitchFamily="34" charset="0"/>
                <a:ea typeface="Funnel Sans" pitchFamily="34" charset="-122"/>
                <a:cs typeface="Funnel Sans" pitchFamily="34" charset="-120"/>
              </a:rPr>
              <a:t>MedVision AI is built on a robust and modern technology stack, ensuring high performance, scalability, and ease of development. This selection of tools and frameworks facilitates the creation of a powerful and user-friendly system.</a:t>
            </a:r>
            <a:endParaRPr lang="en-US" sz="1200" dirty="0"/>
          </a:p>
        </p:txBody>
      </p:sp>
      <p:sp>
        <p:nvSpPr>
          <p:cNvPr id="4" name="Shape 2"/>
          <p:cNvSpPr/>
          <p:nvPr/>
        </p:nvSpPr>
        <p:spPr>
          <a:xfrm>
            <a:off x="1966079" y="2120979"/>
            <a:ext cx="10698123" cy="1142643"/>
          </a:xfrm>
          <a:prstGeom prst="roundRect">
            <a:avLst>
              <a:gd name="adj" fmla="val 5699"/>
            </a:avLst>
          </a:prstGeom>
          <a:solidFill>
            <a:srgbClr val="181616">
              <a:alpha val="95000"/>
            </a:srgbClr>
          </a:solidFill>
          <a:ln w="22860">
            <a:solidFill>
              <a:srgbClr val="595959"/>
            </a:solidFill>
            <a:prstDash val="solid"/>
          </a:ln>
        </p:spPr>
      </p:sp>
      <p:sp>
        <p:nvSpPr>
          <p:cNvPr id="5" name="Shape 3"/>
          <p:cNvSpPr/>
          <p:nvPr/>
        </p:nvSpPr>
        <p:spPr>
          <a:xfrm>
            <a:off x="1988939" y="2143839"/>
            <a:ext cx="620078" cy="1096923"/>
          </a:xfrm>
          <a:prstGeom prst="roundRect">
            <a:avLst>
              <a:gd name="adj" fmla="val 6078"/>
            </a:avLst>
          </a:prstGeom>
          <a:solidFill>
            <a:srgbClr val="404040"/>
          </a:solidFill>
          <a:ln/>
        </p:spPr>
      </p:sp>
      <p:sp>
        <p:nvSpPr>
          <p:cNvPr id="6" name="Text 4"/>
          <p:cNvSpPr/>
          <p:nvPr/>
        </p:nvSpPr>
        <p:spPr>
          <a:xfrm>
            <a:off x="2178844" y="2546985"/>
            <a:ext cx="232529" cy="290632"/>
          </a:xfrm>
          <a:prstGeom prst="rect">
            <a:avLst/>
          </a:prstGeom>
          <a:noFill/>
          <a:ln/>
        </p:spPr>
        <p:txBody>
          <a:bodyPr wrap="none" lIns="0" tIns="0" rIns="0" bIns="0" rtlCol="0" anchor="t"/>
          <a:lstStyle/>
          <a:p>
            <a:pPr marL="0" indent="0" algn="l">
              <a:lnSpc>
                <a:spcPts val="1800"/>
              </a:lnSpc>
              <a:buNone/>
            </a:pPr>
            <a:r>
              <a:rPr lang="en-US" sz="1800" dirty="0">
                <a:solidFill>
                  <a:srgbClr val="FFFFFF"/>
                </a:solidFill>
                <a:latin typeface="Mona Sans Semi Bold" pitchFamily="34" charset="0"/>
                <a:ea typeface="Mona Sans Semi Bold" pitchFamily="34" charset="-122"/>
                <a:cs typeface="Mona Sans Semi Bold" pitchFamily="34" charset="-120"/>
              </a:rPr>
              <a:t>1</a:t>
            </a:r>
            <a:endParaRPr lang="en-US" sz="1800" dirty="0"/>
          </a:p>
        </p:txBody>
      </p:sp>
      <p:sp>
        <p:nvSpPr>
          <p:cNvPr id="7" name="Text 5"/>
          <p:cNvSpPr/>
          <p:nvPr/>
        </p:nvSpPr>
        <p:spPr>
          <a:xfrm>
            <a:off x="2714982" y="2298859"/>
            <a:ext cx="1937980" cy="242292"/>
          </a:xfrm>
          <a:prstGeom prst="rect">
            <a:avLst/>
          </a:prstGeom>
          <a:noFill/>
          <a:ln/>
        </p:spPr>
        <p:txBody>
          <a:bodyPr wrap="none" lIns="0" tIns="0" rIns="0" bIns="0" rtlCol="0" anchor="t"/>
          <a:lstStyle/>
          <a:p>
            <a:pPr marL="0" indent="0" algn="l">
              <a:lnSpc>
                <a:spcPts val="1900"/>
              </a:lnSpc>
              <a:buNone/>
            </a:pPr>
            <a:r>
              <a:rPr lang="en-US" sz="1500" dirty="0">
                <a:solidFill>
                  <a:srgbClr val="8F8F8F"/>
                </a:solidFill>
                <a:latin typeface="Mona Sans Semi Bold" pitchFamily="34" charset="0"/>
                <a:ea typeface="Mona Sans Semi Bold" pitchFamily="34" charset="-122"/>
                <a:cs typeface="Mona Sans Semi Bold" pitchFamily="34" charset="-120"/>
              </a:rPr>
              <a:t>Frontend</a:t>
            </a:r>
            <a:endParaRPr lang="en-US" sz="1500" dirty="0"/>
          </a:p>
        </p:txBody>
      </p:sp>
      <p:sp>
        <p:nvSpPr>
          <p:cNvPr id="8" name="Text 6"/>
          <p:cNvSpPr/>
          <p:nvPr/>
        </p:nvSpPr>
        <p:spPr>
          <a:xfrm>
            <a:off x="2714982" y="2604730"/>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Streamlit:</a:t>
            </a:r>
            <a:r>
              <a:rPr lang="en-US" sz="1200" dirty="0">
                <a:solidFill>
                  <a:srgbClr val="8F8F8F"/>
                </a:solidFill>
                <a:latin typeface="Funnel Sans" pitchFamily="34" charset="0"/>
                <a:ea typeface="Funnel Sans" pitchFamily="34" charset="-122"/>
                <a:cs typeface="Funnel Sans" pitchFamily="34" charset="-120"/>
              </a:rPr>
              <a:t> A Python web framework for rapid development.</a:t>
            </a:r>
            <a:endParaRPr lang="en-US" sz="1200" dirty="0"/>
          </a:p>
        </p:txBody>
      </p:sp>
      <p:sp>
        <p:nvSpPr>
          <p:cNvPr id="9" name="Text 7"/>
          <p:cNvSpPr/>
          <p:nvPr/>
        </p:nvSpPr>
        <p:spPr>
          <a:xfrm>
            <a:off x="2714982" y="2877026"/>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HTML/CSS:</a:t>
            </a:r>
            <a:r>
              <a:rPr lang="en-US" sz="1200" dirty="0">
                <a:solidFill>
                  <a:srgbClr val="8F8F8F"/>
                </a:solidFill>
                <a:latin typeface="Funnel Sans" pitchFamily="34" charset="0"/>
                <a:ea typeface="Funnel Sans" pitchFamily="34" charset="-122"/>
                <a:cs typeface="Funnel Sans" pitchFamily="34" charset="-120"/>
              </a:rPr>
              <a:t> For custom interface enhancements (optional).</a:t>
            </a:r>
            <a:endParaRPr lang="en-US" sz="1200" dirty="0"/>
          </a:p>
        </p:txBody>
      </p:sp>
      <p:sp>
        <p:nvSpPr>
          <p:cNvPr id="10" name="Shape 8"/>
          <p:cNvSpPr/>
          <p:nvPr/>
        </p:nvSpPr>
        <p:spPr>
          <a:xfrm>
            <a:off x="1966079" y="3369588"/>
            <a:ext cx="10698123" cy="1414939"/>
          </a:xfrm>
          <a:prstGeom prst="roundRect">
            <a:avLst>
              <a:gd name="adj" fmla="val 4602"/>
            </a:avLst>
          </a:prstGeom>
          <a:solidFill>
            <a:srgbClr val="181616">
              <a:alpha val="95000"/>
            </a:srgbClr>
          </a:solidFill>
          <a:ln w="22860">
            <a:solidFill>
              <a:srgbClr val="595959"/>
            </a:solidFill>
            <a:prstDash val="solid"/>
          </a:ln>
        </p:spPr>
      </p:sp>
      <p:sp>
        <p:nvSpPr>
          <p:cNvPr id="11" name="Shape 9"/>
          <p:cNvSpPr/>
          <p:nvPr/>
        </p:nvSpPr>
        <p:spPr>
          <a:xfrm>
            <a:off x="1988939" y="3392448"/>
            <a:ext cx="620078" cy="1369219"/>
          </a:xfrm>
          <a:prstGeom prst="roundRect">
            <a:avLst>
              <a:gd name="adj" fmla="val 6078"/>
            </a:avLst>
          </a:prstGeom>
          <a:solidFill>
            <a:srgbClr val="404040"/>
          </a:solidFill>
          <a:ln/>
        </p:spPr>
      </p:sp>
      <p:sp>
        <p:nvSpPr>
          <p:cNvPr id="12" name="Text 10"/>
          <p:cNvSpPr/>
          <p:nvPr/>
        </p:nvSpPr>
        <p:spPr>
          <a:xfrm>
            <a:off x="2178844" y="3931682"/>
            <a:ext cx="232529" cy="290632"/>
          </a:xfrm>
          <a:prstGeom prst="rect">
            <a:avLst/>
          </a:prstGeom>
          <a:noFill/>
          <a:ln/>
        </p:spPr>
        <p:txBody>
          <a:bodyPr wrap="none" lIns="0" tIns="0" rIns="0" bIns="0" rtlCol="0" anchor="t"/>
          <a:lstStyle/>
          <a:p>
            <a:pPr marL="0" indent="0" algn="l">
              <a:lnSpc>
                <a:spcPts val="1800"/>
              </a:lnSpc>
              <a:buNone/>
            </a:pPr>
            <a:r>
              <a:rPr lang="en-US" sz="1800" dirty="0">
                <a:solidFill>
                  <a:srgbClr val="FFFFFF"/>
                </a:solidFill>
                <a:latin typeface="Mona Sans Semi Bold" pitchFamily="34" charset="0"/>
                <a:ea typeface="Mona Sans Semi Bold" pitchFamily="34" charset="-122"/>
                <a:cs typeface="Mona Sans Semi Bold" pitchFamily="34" charset="-120"/>
              </a:rPr>
              <a:t>2</a:t>
            </a:r>
            <a:endParaRPr lang="en-US" sz="1800" dirty="0"/>
          </a:p>
        </p:txBody>
      </p:sp>
      <p:sp>
        <p:nvSpPr>
          <p:cNvPr id="13" name="Text 11"/>
          <p:cNvSpPr/>
          <p:nvPr/>
        </p:nvSpPr>
        <p:spPr>
          <a:xfrm>
            <a:off x="2714982" y="3547467"/>
            <a:ext cx="1937980" cy="242292"/>
          </a:xfrm>
          <a:prstGeom prst="rect">
            <a:avLst/>
          </a:prstGeom>
          <a:noFill/>
          <a:ln/>
        </p:spPr>
        <p:txBody>
          <a:bodyPr wrap="none" lIns="0" tIns="0" rIns="0" bIns="0" rtlCol="0" anchor="t"/>
          <a:lstStyle/>
          <a:p>
            <a:pPr marL="0" indent="0" algn="l">
              <a:lnSpc>
                <a:spcPts val="1900"/>
              </a:lnSpc>
              <a:buNone/>
            </a:pPr>
            <a:r>
              <a:rPr lang="en-US" sz="1500" dirty="0">
                <a:solidFill>
                  <a:srgbClr val="8F8F8F"/>
                </a:solidFill>
                <a:latin typeface="Mona Sans Semi Bold" pitchFamily="34" charset="0"/>
                <a:ea typeface="Mona Sans Semi Bold" pitchFamily="34" charset="-122"/>
                <a:cs typeface="Mona Sans Semi Bold" pitchFamily="34" charset="-120"/>
              </a:rPr>
              <a:t>Backend</a:t>
            </a:r>
            <a:endParaRPr lang="en-US" sz="1500" dirty="0"/>
          </a:p>
        </p:txBody>
      </p:sp>
      <p:sp>
        <p:nvSpPr>
          <p:cNvPr id="14" name="Text 12"/>
          <p:cNvSpPr/>
          <p:nvPr/>
        </p:nvSpPr>
        <p:spPr>
          <a:xfrm>
            <a:off x="2714982" y="3853339"/>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Python:</a:t>
            </a:r>
            <a:r>
              <a:rPr lang="en-US" sz="1200" dirty="0">
                <a:solidFill>
                  <a:srgbClr val="8F8F8F"/>
                </a:solidFill>
                <a:latin typeface="Funnel Sans" pitchFamily="34" charset="0"/>
                <a:ea typeface="Funnel Sans" pitchFamily="34" charset="-122"/>
                <a:cs typeface="Funnel Sans" pitchFamily="34" charset="-120"/>
              </a:rPr>
              <a:t> The core programming language.</a:t>
            </a:r>
            <a:endParaRPr lang="en-US" sz="1200" dirty="0"/>
          </a:p>
        </p:txBody>
      </p:sp>
      <p:sp>
        <p:nvSpPr>
          <p:cNvPr id="15" name="Text 13"/>
          <p:cNvSpPr/>
          <p:nvPr/>
        </p:nvSpPr>
        <p:spPr>
          <a:xfrm>
            <a:off x="2714982" y="4125635"/>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Gemini AI API:</a:t>
            </a:r>
            <a:r>
              <a:rPr lang="en-US" sz="1200" dirty="0">
                <a:solidFill>
                  <a:srgbClr val="8F8F8F"/>
                </a:solidFill>
                <a:latin typeface="Funnel Sans" pitchFamily="34" charset="0"/>
                <a:ea typeface="Funnel Sans" pitchFamily="34" charset="-122"/>
                <a:cs typeface="Funnel Sans" pitchFamily="34" charset="-120"/>
              </a:rPr>
              <a:t> For advanced AI analysis.</a:t>
            </a:r>
            <a:endParaRPr lang="en-US" sz="1200" dirty="0"/>
          </a:p>
        </p:txBody>
      </p:sp>
      <p:sp>
        <p:nvSpPr>
          <p:cNvPr id="16" name="Text 14"/>
          <p:cNvSpPr/>
          <p:nvPr/>
        </p:nvSpPr>
        <p:spPr>
          <a:xfrm>
            <a:off x="2714982" y="4397931"/>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Computer Vision Model:</a:t>
            </a:r>
            <a:r>
              <a:rPr lang="en-US" sz="1200" dirty="0">
                <a:solidFill>
                  <a:srgbClr val="8F8F8F"/>
                </a:solidFill>
                <a:latin typeface="Funnel Sans" pitchFamily="34" charset="0"/>
                <a:ea typeface="Funnel Sans" pitchFamily="34" charset="-122"/>
                <a:cs typeface="Funnel Sans" pitchFamily="34" charset="-120"/>
              </a:rPr>
              <a:t> Essential for image processing.</a:t>
            </a:r>
            <a:endParaRPr lang="en-US" sz="1200" dirty="0"/>
          </a:p>
        </p:txBody>
      </p:sp>
      <p:sp>
        <p:nvSpPr>
          <p:cNvPr id="17" name="Shape 15"/>
          <p:cNvSpPr/>
          <p:nvPr/>
        </p:nvSpPr>
        <p:spPr>
          <a:xfrm>
            <a:off x="1966079" y="4890492"/>
            <a:ext cx="10698123" cy="930235"/>
          </a:xfrm>
          <a:prstGeom prst="roundRect">
            <a:avLst>
              <a:gd name="adj" fmla="val 7000"/>
            </a:avLst>
          </a:prstGeom>
          <a:solidFill>
            <a:srgbClr val="181616">
              <a:alpha val="95000"/>
            </a:srgbClr>
          </a:solidFill>
          <a:ln w="22860">
            <a:solidFill>
              <a:srgbClr val="595959"/>
            </a:solidFill>
            <a:prstDash val="solid"/>
          </a:ln>
        </p:spPr>
      </p:sp>
      <p:sp>
        <p:nvSpPr>
          <p:cNvPr id="18" name="Shape 16"/>
          <p:cNvSpPr/>
          <p:nvPr/>
        </p:nvSpPr>
        <p:spPr>
          <a:xfrm>
            <a:off x="1988939" y="4913352"/>
            <a:ext cx="620078" cy="884515"/>
          </a:xfrm>
          <a:prstGeom prst="roundRect">
            <a:avLst>
              <a:gd name="adj" fmla="val 6078"/>
            </a:avLst>
          </a:prstGeom>
          <a:solidFill>
            <a:srgbClr val="404040"/>
          </a:solidFill>
          <a:ln/>
        </p:spPr>
      </p:sp>
      <p:sp>
        <p:nvSpPr>
          <p:cNvPr id="19" name="Text 17"/>
          <p:cNvSpPr/>
          <p:nvPr/>
        </p:nvSpPr>
        <p:spPr>
          <a:xfrm>
            <a:off x="2178844" y="5210294"/>
            <a:ext cx="232529" cy="290632"/>
          </a:xfrm>
          <a:prstGeom prst="rect">
            <a:avLst/>
          </a:prstGeom>
          <a:noFill/>
          <a:ln/>
        </p:spPr>
        <p:txBody>
          <a:bodyPr wrap="none" lIns="0" tIns="0" rIns="0" bIns="0" rtlCol="0" anchor="t"/>
          <a:lstStyle/>
          <a:p>
            <a:pPr marL="0" indent="0" algn="l">
              <a:lnSpc>
                <a:spcPts val="1800"/>
              </a:lnSpc>
              <a:buNone/>
            </a:pPr>
            <a:r>
              <a:rPr lang="en-US" sz="1800" dirty="0">
                <a:solidFill>
                  <a:srgbClr val="FFFFFF"/>
                </a:solidFill>
                <a:latin typeface="Mona Sans Semi Bold" pitchFamily="34" charset="0"/>
                <a:ea typeface="Mona Sans Semi Bold" pitchFamily="34" charset="-122"/>
                <a:cs typeface="Mona Sans Semi Bold" pitchFamily="34" charset="-120"/>
              </a:rPr>
              <a:t>3</a:t>
            </a:r>
            <a:endParaRPr lang="en-US" sz="1800" dirty="0"/>
          </a:p>
        </p:txBody>
      </p:sp>
      <p:sp>
        <p:nvSpPr>
          <p:cNvPr id="20" name="Text 18"/>
          <p:cNvSpPr/>
          <p:nvPr/>
        </p:nvSpPr>
        <p:spPr>
          <a:xfrm>
            <a:off x="2714982" y="5068372"/>
            <a:ext cx="1937980" cy="242292"/>
          </a:xfrm>
          <a:prstGeom prst="rect">
            <a:avLst/>
          </a:prstGeom>
          <a:noFill/>
          <a:ln/>
        </p:spPr>
        <p:txBody>
          <a:bodyPr wrap="none" lIns="0" tIns="0" rIns="0" bIns="0" rtlCol="0" anchor="t"/>
          <a:lstStyle/>
          <a:p>
            <a:pPr marL="0" indent="0" algn="l">
              <a:lnSpc>
                <a:spcPts val="1900"/>
              </a:lnSpc>
              <a:buNone/>
            </a:pPr>
            <a:r>
              <a:rPr lang="en-US" sz="1500" dirty="0">
                <a:solidFill>
                  <a:srgbClr val="8F8F8F"/>
                </a:solidFill>
                <a:latin typeface="Mona Sans Semi Bold" pitchFamily="34" charset="0"/>
                <a:ea typeface="Mona Sans Semi Bold" pitchFamily="34" charset="-122"/>
                <a:cs typeface="Mona Sans Semi Bold" pitchFamily="34" charset="-120"/>
              </a:rPr>
              <a:t>Database</a:t>
            </a:r>
            <a:endParaRPr lang="en-US" sz="1500" dirty="0"/>
          </a:p>
        </p:txBody>
      </p:sp>
      <p:sp>
        <p:nvSpPr>
          <p:cNvPr id="21" name="Text 19"/>
          <p:cNvSpPr/>
          <p:nvPr/>
        </p:nvSpPr>
        <p:spPr>
          <a:xfrm>
            <a:off x="2714982" y="5374243"/>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SQLite:</a:t>
            </a:r>
            <a:r>
              <a:rPr lang="en-US" sz="1200" dirty="0">
                <a:solidFill>
                  <a:srgbClr val="8F8F8F"/>
                </a:solidFill>
                <a:latin typeface="Funnel Sans" pitchFamily="34" charset="0"/>
                <a:ea typeface="Funnel Sans" pitchFamily="34" charset="-122"/>
                <a:cs typeface="Funnel Sans" pitchFamily="34" charset="-120"/>
              </a:rPr>
              <a:t> Lightweight and efficient for user data and reports.</a:t>
            </a:r>
            <a:endParaRPr lang="en-US" sz="1200" dirty="0"/>
          </a:p>
        </p:txBody>
      </p:sp>
      <p:sp>
        <p:nvSpPr>
          <p:cNvPr id="22" name="Shape 20"/>
          <p:cNvSpPr/>
          <p:nvPr/>
        </p:nvSpPr>
        <p:spPr>
          <a:xfrm>
            <a:off x="1966079" y="5926693"/>
            <a:ext cx="10698123" cy="1414939"/>
          </a:xfrm>
          <a:prstGeom prst="roundRect">
            <a:avLst>
              <a:gd name="adj" fmla="val 4602"/>
            </a:avLst>
          </a:prstGeom>
          <a:solidFill>
            <a:srgbClr val="181616">
              <a:alpha val="95000"/>
            </a:srgbClr>
          </a:solidFill>
          <a:ln w="22860">
            <a:solidFill>
              <a:srgbClr val="595959"/>
            </a:solidFill>
            <a:prstDash val="solid"/>
          </a:ln>
        </p:spPr>
      </p:sp>
      <p:sp>
        <p:nvSpPr>
          <p:cNvPr id="23" name="Shape 21"/>
          <p:cNvSpPr/>
          <p:nvPr/>
        </p:nvSpPr>
        <p:spPr>
          <a:xfrm>
            <a:off x="1988939" y="5949553"/>
            <a:ext cx="620078" cy="1369219"/>
          </a:xfrm>
          <a:prstGeom prst="roundRect">
            <a:avLst>
              <a:gd name="adj" fmla="val 6078"/>
            </a:avLst>
          </a:prstGeom>
          <a:solidFill>
            <a:srgbClr val="404040"/>
          </a:solidFill>
          <a:ln/>
        </p:spPr>
      </p:sp>
      <p:sp>
        <p:nvSpPr>
          <p:cNvPr id="24" name="Text 22"/>
          <p:cNvSpPr/>
          <p:nvPr/>
        </p:nvSpPr>
        <p:spPr>
          <a:xfrm>
            <a:off x="2178844" y="6488787"/>
            <a:ext cx="232529" cy="290632"/>
          </a:xfrm>
          <a:prstGeom prst="rect">
            <a:avLst/>
          </a:prstGeom>
          <a:noFill/>
          <a:ln/>
        </p:spPr>
        <p:txBody>
          <a:bodyPr wrap="none" lIns="0" tIns="0" rIns="0" bIns="0" rtlCol="0" anchor="t"/>
          <a:lstStyle/>
          <a:p>
            <a:pPr marL="0" indent="0" algn="l">
              <a:lnSpc>
                <a:spcPts val="1800"/>
              </a:lnSpc>
              <a:buNone/>
            </a:pPr>
            <a:r>
              <a:rPr lang="en-US" sz="1800" dirty="0">
                <a:solidFill>
                  <a:srgbClr val="FFFFFF"/>
                </a:solidFill>
                <a:latin typeface="Mona Sans Semi Bold" pitchFamily="34" charset="0"/>
                <a:ea typeface="Mona Sans Semi Bold" pitchFamily="34" charset="-122"/>
                <a:cs typeface="Mona Sans Semi Bold" pitchFamily="34" charset="-120"/>
              </a:rPr>
              <a:t>4</a:t>
            </a:r>
            <a:endParaRPr lang="en-US" sz="1800" dirty="0"/>
          </a:p>
        </p:txBody>
      </p:sp>
      <p:sp>
        <p:nvSpPr>
          <p:cNvPr id="25" name="Text 23"/>
          <p:cNvSpPr/>
          <p:nvPr/>
        </p:nvSpPr>
        <p:spPr>
          <a:xfrm>
            <a:off x="2714982" y="6104573"/>
            <a:ext cx="1937980" cy="242292"/>
          </a:xfrm>
          <a:prstGeom prst="rect">
            <a:avLst/>
          </a:prstGeom>
          <a:noFill/>
          <a:ln/>
        </p:spPr>
        <p:txBody>
          <a:bodyPr wrap="none" lIns="0" tIns="0" rIns="0" bIns="0" rtlCol="0" anchor="t"/>
          <a:lstStyle/>
          <a:p>
            <a:pPr marL="0" indent="0" algn="l">
              <a:lnSpc>
                <a:spcPts val="1900"/>
              </a:lnSpc>
              <a:buNone/>
            </a:pPr>
            <a:r>
              <a:rPr lang="en-US" sz="1500" dirty="0">
                <a:solidFill>
                  <a:srgbClr val="8F8F8F"/>
                </a:solidFill>
                <a:latin typeface="Mona Sans Semi Bold" pitchFamily="34" charset="0"/>
                <a:ea typeface="Mona Sans Semi Bold" pitchFamily="34" charset="-122"/>
                <a:cs typeface="Mona Sans Semi Bold" pitchFamily="34" charset="-120"/>
              </a:rPr>
              <a:t>Key Libraries &amp; Tools</a:t>
            </a:r>
            <a:endParaRPr lang="en-US" sz="1500" dirty="0"/>
          </a:p>
        </p:txBody>
      </p:sp>
      <p:sp>
        <p:nvSpPr>
          <p:cNvPr id="26" name="Text 24"/>
          <p:cNvSpPr/>
          <p:nvPr/>
        </p:nvSpPr>
        <p:spPr>
          <a:xfrm>
            <a:off x="2714982" y="6410444"/>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VS Code:</a:t>
            </a:r>
            <a:r>
              <a:rPr lang="en-US" sz="1200" dirty="0">
                <a:solidFill>
                  <a:srgbClr val="8F8F8F"/>
                </a:solidFill>
                <a:latin typeface="Funnel Sans" pitchFamily="34" charset="0"/>
                <a:ea typeface="Funnel Sans" pitchFamily="34" charset="-122"/>
                <a:cs typeface="Funnel Sans" pitchFamily="34" charset="-120"/>
              </a:rPr>
              <a:t> Integrated development environment.</a:t>
            </a:r>
            <a:endParaRPr lang="en-US" sz="1200" dirty="0"/>
          </a:p>
        </p:txBody>
      </p:sp>
      <p:sp>
        <p:nvSpPr>
          <p:cNvPr id="27" name="Text 25"/>
          <p:cNvSpPr/>
          <p:nvPr/>
        </p:nvSpPr>
        <p:spPr>
          <a:xfrm>
            <a:off x="2714982" y="6682740"/>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OpenCV:</a:t>
            </a:r>
            <a:r>
              <a:rPr lang="en-US" sz="1200" dirty="0">
                <a:solidFill>
                  <a:srgbClr val="8F8F8F"/>
                </a:solidFill>
                <a:latin typeface="Funnel Sans" pitchFamily="34" charset="0"/>
                <a:ea typeface="Funnel Sans" pitchFamily="34" charset="-122"/>
                <a:cs typeface="Funnel Sans" pitchFamily="34" charset="-120"/>
              </a:rPr>
              <a:t> For robust image manipulation.</a:t>
            </a:r>
            <a:endParaRPr lang="en-US" sz="1200" dirty="0"/>
          </a:p>
        </p:txBody>
      </p:sp>
      <p:sp>
        <p:nvSpPr>
          <p:cNvPr id="28" name="Text 26"/>
          <p:cNvSpPr/>
          <p:nvPr/>
        </p:nvSpPr>
        <p:spPr>
          <a:xfrm>
            <a:off x="2714982" y="6955036"/>
            <a:ext cx="9771340" cy="208717"/>
          </a:xfrm>
          <a:prstGeom prst="rect">
            <a:avLst/>
          </a:prstGeom>
          <a:noFill/>
          <a:ln/>
        </p:spPr>
        <p:txBody>
          <a:bodyPr wrap="none" lIns="0" tIns="0" rIns="0" bIns="0" rtlCol="0" anchor="t"/>
          <a:lstStyle/>
          <a:p>
            <a:pPr marL="0" indent="0" algn="l">
              <a:lnSpc>
                <a:spcPts val="1600"/>
              </a:lnSpc>
              <a:buNone/>
            </a:pPr>
            <a:r>
              <a:rPr lang="en-US" sz="1200" b="1" dirty="0">
                <a:solidFill>
                  <a:srgbClr val="8F8F8F"/>
                </a:solidFill>
                <a:latin typeface="Funnel Sans" pitchFamily="34" charset="0"/>
                <a:ea typeface="Funnel Sans" pitchFamily="34" charset="-122"/>
                <a:cs typeface="Funnel Sans" pitchFamily="34" charset="-120"/>
              </a:rPr>
              <a:t>SQLite3:</a:t>
            </a:r>
            <a:r>
              <a:rPr lang="en-US" sz="1200" dirty="0">
                <a:solidFill>
                  <a:srgbClr val="8F8F8F"/>
                </a:solidFill>
                <a:latin typeface="Funnel Sans" pitchFamily="34" charset="0"/>
                <a:ea typeface="Funnel Sans" pitchFamily="34" charset="-122"/>
                <a:cs typeface="Funnel Sans" pitchFamily="34" charset="-120"/>
              </a:rPr>
              <a:t> Python interface for database operations.</a:t>
            </a:r>
            <a:endParaRPr lang="en-US" sz="1200" dirty="0"/>
          </a:p>
        </p:txBody>
      </p:sp>
      <p:sp>
        <p:nvSpPr>
          <p:cNvPr id="29" name="Rectangle 28">
            <a:extLst>
              <a:ext uri="{FF2B5EF4-FFF2-40B4-BE49-F238E27FC236}">
                <a16:creationId xmlns:a16="http://schemas.microsoft.com/office/drawing/2014/main" id="{437507D2-34A8-3A51-429E-854C8433E083}"/>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577" y="586978"/>
            <a:ext cx="8189357" cy="572095"/>
          </a:xfrm>
          <a:prstGeom prst="rect">
            <a:avLst/>
          </a:prstGeom>
          <a:noFill/>
          <a:ln/>
        </p:spPr>
        <p:txBody>
          <a:bodyPr wrap="none" lIns="0" tIns="0" rIns="0" bIns="0" rtlCol="0" anchor="t"/>
          <a:lstStyle/>
          <a:p>
            <a:pPr marL="0" indent="0" algn="l">
              <a:lnSpc>
                <a:spcPts val="4500"/>
              </a:lnSpc>
              <a:buNone/>
            </a:pPr>
            <a:r>
              <a:rPr lang="en-US" sz="3600" dirty="0">
                <a:solidFill>
                  <a:srgbClr val="DDDDDD"/>
                </a:solidFill>
                <a:latin typeface="Mona Sans Semi Bold" pitchFamily="34" charset="0"/>
                <a:ea typeface="Mona Sans Semi Bold" pitchFamily="34" charset="-122"/>
                <a:cs typeface="Mona Sans Semi Bold" pitchFamily="34" charset="-120"/>
              </a:rPr>
              <a:t>System Requirements (SRS) Modules</a:t>
            </a:r>
            <a:endParaRPr lang="en-US" sz="3600" dirty="0"/>
          </a:p>
        </p:txBody>
      </p:sp>
      <p:sp>
        <p:nvSpPr>
          <p:cNvPr id="3" name="Text 1"/>
          <p:cNvSpPr/>
          <p:nvPr/>
        </p:nvSpPr>
        <p:spPr>
          <a:xfrm>
            <a:off x="998577" y="1454587"/>
            <a:ext cx="12633127" cy="529352"/>
          </a:xfrm>
          <a:prstGeom prst="rect">
            <a:avLst/>
          </a:prstGeom>
          <a:noFill/>
          <a:ln/>
        </p:spPr>
        <p:txBody>
          <a:bodyPr wrap="squar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The MedVision AI system is structured into several key modules, each designed to handle specific functionalities critical to its operation. This modular approach ensures clarity, maintainability, and efficient development.</a:t>
            </a:r>
            <a:endParaRPr lang="en-US" sz="1400" dirty="0"/>
          </a:p>
        </p:txBody>
      </p:sp>
      <p:pic>
        <p:nvPicPr>
          <p:cNvPr id="4" name="Image 0" descr="preencoded.png"/>
          <p:cNvPicPr>
            <a:picLocks noChangeAspect="1"/>
          </p:cNvPicPr>
          <p:nvPr/>
        </p:nvPicPr>
        <p:blipFill>
          <a:blip r:embed="rId3"/>
          <a:stretch>
            <a:fillRect/>
          </a:stretch>
        </p:blipFill>
        <p:spPr>
          <a:xfrm>
            <a:off x="998577" y="2150150"/>
            <a:ext cx="915353" cy="1098471"/>
          </a:xfrm>
          <a:prstGeom prst="rect">
            <a:avLst/>
          </a:prstGeom>
        </p:spPr>
      </p:pic>
      <p:sp>
        <p:nvSpPr>
          <p:cNvPr id="5" name="Text 2"/>
          <p:cNvSpPr/>
          <p:nvPr/>
        </p:nvSpPr>
        <p:spPr>
          <a:xfrm>
            <a:off x="2061686" y="2333149"/>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8F8F8F"/>
                </a:solidFill>
                <a:latin typeface="Mona Sans Semi Bold" pitchFamily="34" charset="0"/>
                <a:ea typeface="Mona Sans Semi Bold" pitchFamily="34" charset="-122"/>
                <a:cs typeface="Mona Sans Semi Bold" pitchFamily="34" charset="-120"/>
              </a:rPr>
              <a:t>User Authentication</a:t>
            </a:r>
            <a:endParaRPr lang="en-US" sz="1800" dirty="0"/>
          </a:p>
        </p:txBody>
      </p:sp>
      <p:sp>
        <p:nvSpPr>
          <p:cNvPr id="6" name="Text 3"/>
          <p:cNvSpPr/>
          <p:nvPr/>
        </p:nvSpPr>
        <p:spPr>
          <a:xfrm>
            <a:off x="2061686" y="2707719"/>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Includes robust user registration, secure login, and controlled logout functionalities.</a:t>
            </a:r>
            <a:endParaRPr lang="en-US" sz="1400" dirty="0"/>
          </a:p>
        </p:txBody>
      </p:sp>
      <p:pic>
        <p:nvPicPr>
          <p:cNvPr id="7" name="Image 1" descr="preencoded.png"/>
          <p:cNvPicPr>
            <a:picLocks noChangeAspect="1"/>
          </p:cNvPicPr>
          <p:nvPr/>
        </p:nvPicPr>
        <p:blipFill>
          <a:blip r:embed="rId4"/>
          <a:stretch>
            <a:fillRect/>
          </a:stretch>
        </p:blipFill>
        <p:spPr>
          <a:xfrm>
            <a:off x="998577" y="3248620"/>
            <a:ext cx="915353" cy="1098471"/>
          </a:xfrm>
          <a:prstGeom prst="rect">
            <a:avLst/>
          </a:prstGeom>
        </p:spPr>
      </p:pic>
      <p:sp>
        <p:nvSpPr>
          <p:cNvPr id="8" name="Text 4"/>
          <p:cNvSpPr/>
          <p:nvPr/>
        </p:nvSpPr>
        <p:spPr>
          <a:xfrm>
            <a:off x="2061686" y="3431619"/>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8F8F8F"/>
                </a:solidFill>
                <a:latin typeface="Mona Sans Semi Bold" pitchFamily="34" charset="0"/>
                <a:ea typeface="Mona Sans Semi Bold" pitchFamily="34" charset="-122"/>
                <a:cs typeface="Mona Sans Semi Bold" pitchFamily="34" charset="-120"/>
              </a:rPr>
              <a:t>Image Upload</a:t>
            </a:r>
            <a:endParaRPr lang="en-US" sz="1800" dirty="0"/>
          </a:p>
        </p:txBody>
      </p:sp>
      <p:sp>
        <p:nvSpPr>
          <p:cNvPr id="9" name="Text 5"/>
          <p:cNvSpPr/>
          <p:nvPr/>
        </p:nvSpPr>
        <p:spPr>
          <a:xfrm>
            <a:off x="2061686" y="3806190"/>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Manages the upload and validation of medical images, preparing them for AI analysis.</a:t>
            </a:r>
            <a:endParaRPr lang="en-US" sz="1400" dirty="0"/>
          </a:p>
        </p:txBody>
      </p:sp>
      <p:pic>
        <p:nvPicPr>
          <p:cNvPr id="10" name="Image 2" descr="preencoded.png"/>
          <p:cNvPicPr>
            <a:picLocks noChangeAspect="1"/>
          </p:cNvPicPr>
          <p:nvPr/>
        </p:nvPicPr>
        <p:blipFill>
          <a:blip r:embed="rId5"/>
          <a:stretch>
            <a:fillRect/>
          </a:stretch>
        </p:blipFill>
        <p:spPr>
          <a:xfrm>
            <a:off x="998577" y="4347091"/>
            <a:ext cx="915353" cy="1098471"/>
          </a:xfrm>
          <a:prstGeom prst="rect">
            <a:avLst/>
          </a:prstGeom>
        </p:spPr>
      </p:pic>
      <p:sp>
        <p:nvSpPr>
          <p:cNvPr id="11" name="Text 6"/>
          <p:cNvSpPr/>
          <p:nvPr/>
        </p:nvSpPr>
        <p:spPr>
          <a:xfrm>
            <a:off x="2061686" y="4530090"/>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8F8F8F"/>
                </a:solidFill>
                <a:latin typeface="Mona Sans Semi Bold" pitchFamily="34" charset="0"/>
                <a:ea typeface="Mona Sans Semi Bold" pitchFamily="34" charset="-122"/>
                <a:cs typeface="Mona Sans Semi Bold" pitchFamily="34" charset="-120"/>
              </a:rPr>
              <a:t>AI Analysis</a:t>
            </a:r>
            <a:endParaRPr lang="en-US" sz="1800" dirty="0"/>
          </a:p>
        </p:txBody>
      </p:sp>
      <p:sp>
        <p:nvSpPr>
          <p:cNvPr id="12" name="Text 7"/>
          <p:cNvSpPr/>
          <p:nvPr/>
        </p:nvSpPr>
        <p:spPr>
          <a:xfrm>
            <a:off x="2061686" y="4904661"/>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Processes images using integrated AI models to generate diagnostic insights and predictions.</a:t>
            </a:r>
            <a:endParaRPr lang="en-US" sz="1400" dirty="0"/>
          </a:p>
        </p:txBody>
      </p:sp>
      <p:pic>
        <p:nvPicPr>
          <p:cNvPr id="13" name="Image 3" descr="preencoded.png"/>
          <p:cNvPicPr>
            <a:picLocks noChangeAspect="1"/>
          </p:cNvPicPr>
          <p:nvPr/>
        </p:nvPicPr>
        <p:blipFill>
          <a:blip r:embed="rId6"/>
          <a:stretch>
            <a:fillRect/>
          </a:stretch>
        </p:blipFill>
        <p:spPr>
          <a:xfrm>
            <a:off x="998577" y="5445562"/>
            <a:ext cx="915353" cy="1098471"/>
          </a:xfrm>
          <a:prstGeom prst="rect">
            <a:avLst/>
          </a:prstGeom>
        </p:spPr>
      </p:pic>
      <p:sp>
        <p:nvSpPr>
          <p:cNvPr id="14" name="Text 8"/>
          <p:cNvSpPr/>
          <p:nvPr/>
        </p:nvSpPr>
        <p:spPr>
          <a:xfrm>
            <a:off x="2061686" y="5628561"/>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8F8F8F"/>
                </a:solidFill>
                <a:latin typeface="Mona Sans Semi Bold" pitchFamily="34" charset="0"/>
                <a:ea typeface="Mona Sans Semi Bold" pitchFamily="34" charset="-122"/>
                <a:cs typeface="Mona Sans Semi Bold" pitchFamily="34" charset="-120"/>
              </a:rPr>
              <a:t>Report Generation</a:t>
            </a:r>
            <a:endParaRPr lang="en-US" sz="1800" dirty="0"/>
          </a:p>
        </p:txBody>
      </p:sp>
      <p:sp>
        <p:nvSpPr>
          <p:cNvPr id="15" name="Text 9"/>
          <p:cNvSpPr/>
          <p:nvPr/>
        </p:nvSpPr>
        <p:spPr>
          <a:xfrm>
            <a:off x="2061686" y="6003131"/>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Displays and saves the AI-generated diagnosis reports into the database for future reference.</a:t>
            </a:r>
            <a:endParaRPr lang="en-US" sz="1400" dirty="0"/>
          </a:p>
        </p:txBody>
      </p:sp>
      <p:pic>
        <p:nvPicPr>
          <p:cNvPr id="16" name="Image 4" descr="preencoded.png"/>
          <p:cNvPicPr>
            <a:picLocks noChangeAspect="1"/>
          </p:cNvPicPr>
          <p:nvPr/>
        </p:nvPicPr>
        <p:blipFill>
          <a:blip r:embed="rId7"/>
          <a:stretch>
            <a:fillRect/>
          </a:stretch>
        </p:blipFill>
        <p:spPr>
          <a:xfrm>
            <a:off x="998577" y="6544032"/>
            <a:ext cx="915353" cy="1098471"/>
          </a:xfrm>
          <a:prstGeom prst="rect">
            <a:avLst/>
          </a:prstGeom>
        </p:spPr>
      </p:pic>
      <p:sp>
        <p:nvSpPr>
          <p:cNvPr id="17" name="Text 10"/>
          <p:cNvSpPr/>
          <p:nvPr/>
        </p:nvSpPr>
        <p:spPr>
          <a:xfrm>
            <a:off x="2061686" y="6727031"/>
            <a:ext cx="2626043" cy="285988"/>
          </a:xfrm>
          <a:prstGeom prst="rect">
            <a:avLst/>
          </a:prstGeom>
          <a:noFill/>
          <a:ln/>
        </p:spPr>
        <p:txBody>
          <a:bodyPr wrap="none" lIns="0" tIns="0" rIns="0" bIns="0" rtlCol="0" anchor="t"/>
          <a:lstStyle/>
          <a:p>
            <a:pPr marL="0" indent="0" algn="l">
              <a:lnSpc>
                <a:spcPts val="2250"/>
              </a:lnSpc>
              <a:buNone/>
            </a:pPr>
            <a:r>
              <a:rPr lang="en-US" sz="1800" dirty="0">
                <a:solidFill>
                  <a:srgbClr val="8F8F8F"/>
                </a:solidFill>
                <a:latin typeface="Mona Sans Semi Bold" pitchFamily="34" charset="0"/>
                <a:ea typeface="Mona Sans Semi Bold" pitchFamily="34" charset="-122"/>
                <a:cs typeface="Mona Sans Semi Bold" pitchFamily="34" charset="-120"/>
              </a:rPr>
              <a:t>Database Management</a:t>
            </a:r>
            <a:endParaRPr lang="en-US" sz="1800" dirty="0"/>
          </a:p>
        </p:txBody>
      </p:sp>
      <p:sp>
        <p:nvSpPr>
          <p:cNvPr id="18" name="Text 11"/>
          <p:cNvSpPr/>
          <p:nvPr/>
        </p:nvSpPr>
        <p:spPr>
          <a:xfrm>
            <a:off x="2061686" y="7101602"/>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8F8F8F"/>
                </a:solidFill>
                <a:latin typeface="Funnel Sans" pitchFamily="34" charset="0"/>
                <a:ea typeface="Funnel Sans" pitchFamily="34" charset="-122"/>
                <a:cs typeface="Funnel Sans" pitchFamily="34" charset="-120"/>
              </a:rPr>
              <a:t>Securely stores all user details and comprehensive diagnostic reports.</a:t>
            </a:r>
            <a:endParaRPr lang="en-US" sz="1400" dirty="0"/>
          </a:p>
        </p:txBody>
      </p:sp>
      <p:sp>
        <p:nvSpPr>
          <p:cNvPr id="19" name="Rectangle 18">
            <a:extLst>
              <a:ext uri="{FF2B5EF4-FFF2-40B4-BE49-F238E27FC236}">
                <a16:creationId xmlns:a16="http://schemas.microsoft.com/office/drawing/2014/main" id="{FBD3AE8D-74BE-0C23-0F6F-47854EED178C}"/>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5453" y="648772"/>
            <a:ext cx="5951815" cy="683538"/>
          </a:xfrm>
          <a:prstGeom prst="rect">
            <a:avLst/>
          </a:prstGeom>
          <a:noFill/>
          <a:ln/>
        </p:spPr>
        <p:txBody>
          <a:bodyPr wrap="none" lIns="0" tIns="0" rIns="0" bIns="0" rtlCol="0" anchor="t"/>
          <a:lstStyle/>
          <a:p>
            <a:pPr marL="0" indent="0" algn="l">
              <a:lnSpc>
                <a:spcPts val="5350"/>
              </a:lnSpc>
              <a:buNone/>
            </a:pPr>
            <a:r>
              <a:rPr lang="en-US" sz="4300" dirty="0">
                <a:solidFill>
                  <a:srgbClr val="DDDDDD"/>
                </a:solidFill>
                <a:latin typeface="Mona Sans Semi Bold" pitchFamily="34" charset="0"/>
                <a:ea typeface="Mona Sans Semi Bold" pitchFamily="34" charset="-122"/>
                <a:cs typeface="Mona Sans Semi Bold" pitchFamily="34" charset="-120"/>
              </a:rPr>
              <a:t>User Interface Screens</a:t>
            </a:r>
            <a:endParaRPr lang="en-US" sz="4300" dirty="0"/>
          </a:p>
        </p:txBody>
      </p:sp>
      <p:sp>
        <p:nvSpPr>
          <p:cNvPr id="3" name="Text 1"/>
          <p:cNvSpPr/>
          <p:nvPr/>
        </p:nvSpPr>
        <p:spPr>
          <a:xfrm>
            <a:off x="765453" y="1754029"/>
            <a:ext cx="13099494" cy="687229"/>
          </a:xfrm>
          <a:prstGeom prst="rect">
            <a:avLst/>
          </a:prstGeom>
          <a:noFill/>
          <a:ln/>
        </p:spPr>
        <p:txBody>
          <a:bodyPr wrap="square" lIns="0" tIns="0" rIns="0" bIns="0" rtlCol="0" anchor="t"/>
          <a:lstStyle/>
          <a:p>
            <a:pPr marL="0" indent="0" algn="l">
              <a:lnSpc>
                <a:spcPts val="2700"/>
              </a:lnSpc>
              <a:buNone/>
            </a:pPr>
            <a:r>
              <a:rPr lang="en-US" sz="1700" dirty="0">
                <a:solidFill>
                  <a:srgbClr val="8F8F8F"/>
                </a:solidFill>
                <a:latin typeface="Funnel Sans" pitchFamily="34" charset="0"/>
                <a:ea typeface="Funnel Sans" pitchFamily="34" charset="-122"/>
                <a:cs typeface="Funnel Sans" pitchFamily="34" charset="-120"/>
              </a:rPr>
              <a:t>The MedVision AI system will feature a series of intuitive user interface screens, designed for seamless interaction and efficient workflow. Each screen serves a distinct purpose, guiding users through the system from authentication to analysis and reporting.</a:t>
            </a:r>
            <a:endParaRPr lang="en-US" sz="1700" dirty="0"/>
          </a:p>
        </p:txBody>
      </p:sp>
      <p:sp>
        <p:nvSpPr>
          <p:cNvPr id="4" name="Shape 2"/>
          <p:cNvSpPr/>
          <p:nvPr/>
        </p:nvSpPr>
        <p:spPr>
          <a:xfrm>
            <a:off x="765453" y="2678430"/>
            <a:ext cx="4225885" cy="1608058"/>
          </a:xfrm>
          <a:prstGeom prst="roundRect">
            <a:avLst>
              <a:gd name="adj" fmla="val 32645"/>
            </a:avLst>
          </a:prstGeom>
          <a:solidFill>
            <a:srgbClr val="404040"/>
          </a:solidFill>
          <a:ln w="7620">
            <a:solidFill>
              <a:srgbClr val="595959"/>
            </a:solidFill>
            <a:prstDash val="solid"/>
          </a:ln>
        </p:spPr>
      </p:sp>
      <p:sp>
        <p:nvSpPr>
          <p:cNvPr id="5" name="Text 3"/>
          <p:cNvSpPr/>
          <p:nvPr/>
        </p:nvSpPr>
        <p:spPr>
          <a:xfrm>
            <a:off x="991791" y="2904768"/>
            <a:ext cx="2734032"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Login Screen</a:t>
            </a:r>
            <a:endParaRPr lang="en-US" sz="2150" dirty="0"/>
          </a:p>
        </p:txBody>
      </p:sp>
      <p:sp>
        <p:nvSpPr>
          <p:cNvPr id="6" name="Text 4"/>
          <p:cNvSpPr/>
          <p:nvPr/>
        </p:nvSpPr>
        <p:spPr>
          <a:xfrm>
            <a:off x="991791" y="3372922"/>
            <a:ext cx="3773210" cy="687229"/>
          </a:xfrm>
          <a:prstGeom prst="rect">
            <a:avLst/>
          </a:prstGeom>
          <a:noFill/>
          <a:ln/>
        </p:spPr>
        <p:txBody>
          <a:bodyPr wrap="squar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Secure access point for registered users.</a:t>
            </a:r>
            <a:endParaRPr lang="en-US" sz="1700" dirty="0"/>
          </a:p>
        </p:txBody>
      </p:sp>
      <p:sp>
        <p:nvSpPr>
          <p:cNvPr id="7" name="Shape 5"/>
          <p:cNvSpPr/>
          <p:nvPr/>
        </p:nvSpPr>
        <p:spPr>
          <a:xfrm>
            <a:off x="5202198" y="2678430"/>
            <a:ext cx="4225885" cy="1608058"/>
          </a:xfrm>
          <a:prstGeom prst="roundRect">
            <a:avLst>
              <a:gd name="adj" fmla="val 32645"/>
            </a:avLst>
          </a:prstGeom>
          <a:solidFill>
            <a:srgbClr val="404040"/>
          </a:solidFill>
          <a:ln w="7620">
            <a:solidFill>
              <a:srgbClr val="595959"/>
            </a:solidFill>
            <a:prstDash val="solid"/>
          </a:ln>
        </p:spPr>
      </p:sp>
      <p:sp>
        <p:nvSpPr>
          <p:cNvPr id="8" name="Text 6"/>
          <p:cNvSpPr/>
          <p:nvPr/>
        </p:nvSpPr>
        <p:spPr>
          <a:xfrm>
            <a:off x="5428536" y="2904768"/>
            <a:ext cx="2734032"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Registration Screen</a:t>
            </a:r>
            <a:endParaRPr lang="en-US" sz="2150" dirty="0"/>
          </a:p>
        </p:txBody>
      </p:sp>
      <p:sp>
        <p:nvSpPr>
          <p:cNvPr id="9" name="Text 7"/>
          <p:cNvSpPr/>
          <p:nvPr/>
        </p:nvSpPr>
        <p:spPr>
          <a:xfrm>
            <a:off x="5428536" y="3372922"/>
            <a:ext cx="3773210" cy="343614"/>
          </a:xfrm>
          <a:prstGeom prst="rect">
            <a:avLst/>
          </a:prstGeom>
          <a:noFill/>
          <a:ln/>
        </p:spPr>
        <p:txBody>
          <a:bodyPr wrap="non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New user account creation interface.</a:t>
            </a:r>
            <a:endParaRPr lang="en-US" sz="1700" dirty="0"/>
          </a:p>
        </p:txBody>
      </p:sp>
      <p:sp>
        <p:nvSpPr>
          <p:cNvPr id="10" name="Shape 8"/>
          <p:cNvSpPr/>
          <p:nvPr/>
        </p:nvSpPr>
        <p:spPr>
          <a:xfrm>
            <a:off x="9638943" y="2678430"/>
            <a:ext cx="4225885" cy="1608058"/>
          </a:xfrm>
          <a:prstGeom prst="roundRect">
            <a:avLst>
              <a:gd name="adj" fmla="val 32645"/>
            </a:avLst>
          </a:prstGeom>
          <a:solidFill>
            <a:srgbClr val="404040"/>
          </a:solidFill>
          <a:ln w="7620">
            <a:solidFill>
              <a:srgbClr val="595959"/>
            </a:solidFill>
            <a:prstDash val="solid"/>
          </a:ln>
        </p:spPr>
      </p:sp>
      <p:sp>
        <p:nvSpPr>
          <p:cNvPr id="11" name="Text 9"/>
          <p:cNvSpPr/>
          <p:nvPr/>
        </p:nvSpPr>
        <p:spPr>
          <a:xfrm>
            <a:off x="9865281" y="2904768"/>
            <a:ext cx="2734032"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Dashboard Screen</a:t>
            </a:r>
            <a:endParaRPr lang="en-US" sz="2150" dirty="0"/>
          </a:p>
        </p:txBody>
      </p:sp>
      <p:sp>
        <p:nvSpPr>
          <p:cNvPr id="12" name="Text 10"/>
          <p:cNvSpPr/>
          <p:nvPr/>
        </p:nvSpPr>
        <p:spPr>
          <a:xfrm>
            <a:off x="9865281" y="3372922"/>
            <a:ext cx="3773210" cy="687229"/>
          </a:xfrm>
          <a:prstGeom prst="rect">
            <a:avLst/>
          </a:prstGeom>
          <a:noFill/>
          <a:ln/>
        </p:spPr>
        <p:txBody>
          <a:bodyPr wrap="squar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Central hub for system overview and navigation.</a:t>
            </a:r>
            <a:endParaRPr lang="en-US" sz="1700" dirty="0"/>
          </a:p>
        </p:txBody>
      </p:sp>
      <p:sp>
        <p:nvSpPr>
          <p:cNvPr id="13" name="Shape 11"/>
          <p:cNvSpPr/>
          <p:nvPr/>
        </p:nvSpPr>
        <p:spPr>
          <a:xfrm>
            <a:off x="765453" y="4497348"/>
            <a:ext cx="4225885" cy="1608058"/>
          </a:xfrm>
          <a:prstGeom prst="roundRect">
            <a:avLst>
              <a:gd name="adj" fmla="val 32645"/>
            </a:avLst>
          </a:prstGeom>
          <a:solidFill>
            <a:srgbClr val="404040"/>
          </a:solidFill>
          <a:ln w="7620">
            <a:solidFill>
              <a:srgbClr val="595959"/>
            </a:solidFill>
            <a:prstDash val="solid"/>
          </a:ln>
        </p:spPr>
      </p:sp>
      <p:sp>
        <p:nvSpPr>
          <p:cNvPr id="14" name="Text 12"/>
          <p:cNvSpPr/>
          <p:nvPr/>
        </p:nvSpPr>
        <p:spPr>
          <a:xfrm>
            <a:off x="991791" y="4723686"/>
            <a:ext cx="2830235"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Image Upload Screen</a:t>
            </a:r>
            <a:endParaRPr lang="en-US" sz="2150" dirty="0"/>
          </a:p>
        </p:txBody>
      </p:sp>
      <p:sp>
        <p:nvSpPr>
          <p:cNvPr id="15" name="Text 13"/>
          <p:cNvSpPr/>
          <p:nvPr/>
        </p:nvSpPr>
        <p:spPr>
          <a:xfrm>
            <a:off x="991791" y="5191839"/>
            <a:ext cx="3773210" cy="687229"/>
          </a:xfrm>
          <a:prstGeom prst="rect">
            <a:avLst/>
          </a:prstGeom>
          <a:noFill/>
          <a:ln/>
        </p:spPr>
        <p:txBody>
          <a:bodyPr wrap="squar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Interface for submitting medical images for analysis.</a:t>
            </a:r>
            <a:endParaRPr lang="en-US" sz="1700" dirty="0"/>
          </a:p>
        </p:txBody>
      </p:sp>
      <p:sp>
        <p:nvSpPr>
          <p:cNvPr id="16" name="Shape 14"/>
          <p:cNvSpPr/>
          <p:nvPr/>
        </p:nvSpPr>
        <p:spPr>
          <a:xfrm>
            <a:off x="5202198" y="4497348"/>
            <a:ext cx="4225885" cy="1608058"/>
          </a:xfrm>
          <a:prstGeom prst="roundRect">
            <a:avLst>
              <a:gd name="adj" fmla="val 32645"/>
            </a:avLst>
          </a:prstGeom>
          <a:solidFill>
            <a:srgbClr val="404040"/>
          </a:solidFill>
          <a:ln w="7620">
            <a:solidFill>
              <a:srgbClr val="595959"/>
            </a:solidFill>
            <a:prstDash val="solid"/>
          </a:ln>
        </p:spPr>
      </p:sp>
      <p:sp>
        <p:nvSpPr>
          <p:cNvPr id="17" name="Text 15"/>
          <p:cNvSpPr/>
          <p:nvPr/>
        </p:nvSpPr>
        <p:spPr>
          <a:xfrm>
            <a:off x="5428536" y="4723686"/>
            <a:ext cx="3004899"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Analysis Result Screen</a:t>
            </a:r>
            <a:endParaRPr lang="en-US" sz="2150" dirty="0"/>
          </a:p>
        </p:txBody>
      </p:sp>
      <p:sp>
        <p:nvSpPr>
          <p:cNvPr id="18" name="Text 16"/>
          <p:cNvSpPr/>
          <p:nvPr/>
        </p:nvSpPr>
        <p:spPr>
          <a:xfrm>
            <a:off x="5428536" y="5191839"/>
            <a:ext cx="3773210" cy="687229"/>
          </a:xfrm>
          <a:prstGeom prst="rect">
            <a:avLst/>
          </a:prstGeom>
          <a:noFill/>
          <a:ln/>
        </p:spPr>
        <p:txBody>
          <a:bodyPr wrap="squar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Displays AI-generated diagnostic outcomes.</a:t>
            </a:r>
            <a:endParaRPr lang="en-US" sz="1700" dirty="0"/>
          </a:p>
        </p:txBody>
      </p:sp>
      <p:sp>
        <p:nvSpPr>
          <p:cNvPr id="19" name="Shape 17"/>
          <p:cNvSpPr/>
          <p:nvPr/>
        </p:nvSpPr>
        <p:spPr>
          <a:xfrm>
            <a:off x="9638943" y="4497348"/>
            <a:ext cx="4225885" cy="1608058"/>
          </a:xfrm>
          <a:prstGeom prst="roundRect">
            <a:avLst>
              <a:gd name="adj" fmla="val 32645"/>
            </a:avLst>
          </a:prstGeom>
          <a:solidFill>
            <a:srgbClr val="404040"/>
          </a:solidFill>
          <a:ln w="7620">
            <a:solidFill>
              <a:srgbClr val="595959"/>
            </a:solidFill>
            <a:prstDash val="solid"/>
          </a:ln>
        </p:spPr>
      </p:sp>
      <p:sp>
        <p:nvSpPr>
          <p:cNvPr id="20" name="Text 18"/>
          <p:cNvSpPr/>
          <p:nvPr/>
        </p:nvSpPr>
        <p:spPr>
          <a:xfrm>
            <a:off x="9865281" y="4723686"/>
            <a:ext cx="2907030"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Report History Screen</a:t>
            </a:r>
            <a:endParaRPr lang="en-US" sz="2150" dirty="0"/>
          </a:p>
        </p:txBody>
      </p:sp>
      <p:sp>
        <p:nvSpPr>
          <p:cNvPr id="21" name="Text 19"/>
          <p:cNvSpPr/>
          <p:nvPr/>
        </p:nvSpPr>
        <p:spPr>
          <a:xfrm>
            <a:off x="9865281" y="5191839"/>
            <a:ext cx="3773210" cy="687229"/>
          </a:xfrm>
          <a:prstGeom prst="rect">
            <a:avLst/>
          </a:prstGeom>
          <a:noFill/>
          <a:ln/>
        </p:spPr>
        <p:txBody>
          <a:bodyPr wrap="squar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Access to previously saved diagnosis reports.</a:t>
            </a:r>
            <a:endParaRPr lang="en-US" sz="1700" dirty="0"/>
          </a:p>
        </p:txBody>
      </p:sp>
      <p:sp>
        <p:nvSpPr>
          <p:cNvPr id="22" name="Shape 20"/>
          <p:cNvSpPr/>
          <p:nvPr/>
        </p:nvSpPr>
        <p:spPr>
          <a:xfrm>
            <a:off x="765453" y="6316266"/>
            <a:ext cx="13099375" cy="1264444"/>
          </a:xfrm>
          <a:prstGeom prst="roundRect">
            <a:avLst>
              <a:gd name="adj" fmla="val 41516"/>
            </a:avLst>
          </a:prstGeom>
          <a:solidFill>
            <a:srgbClr val="404040"/>
          </a:solidFill>
          <a:ln w="7620">
            <a:solidFill>
              <a:srgbClr val="595959"/>
            </a:solidFill>
            <a:prstDash val="solid"/>
          </a:ln>
        </p:spPr>
      </p:sp>
      <p:sp>
        <p:nvSpPr>
          <p:cNvPr id="23" name="Text 21"/>
          <p:cNvSpPr/>
          <p:nvPr/>
        </p:nvSpPr>
        <p:spPr>
          <a:xfrm>
            <a:off x="991791" y="6542603"/>
            <a:ext cx="2734032" cy="341709"/>
          </a:xfrm>
          <a:prstGeom prst="rect">
            <a:avLst/>
          </a:prstGeom>
          <a:noFill/>
          <a:ln/>
        </p:spPr>
        <p:txBody>
          <a:bodyPr wrap="none" lIns="0" tIns="0" rIns="0" bIns="0" rtlCol="0" anchor="t"/>
          <a:lstStyle/>
          <a:p>
            <a:pPr marL="0" indent="0" algn="l">
              <a:lnSpc>
                <a:spcPts val="2650"/>
              </a:lnSpc>
              <a:buNone/>
            </a:pPr>
            <a:r>
              <a:rPr lang="en-US" sz="2150" dirty="0">
                <a:solidFill>
                  <a:srgbClr val="FFFFFF"/>
                </a:solidFill>
                <a:latin typeface="Mona Sans Semi Bold" pitchFamily="34" charset="0"/>
                <a:ea typeface="Mona Sans Semi Bold" pitchFamily="34" charset="-122"/>
                <a:cs typeface="Mona Sans Semi Bold" pitchFamily="34" charset="-120"/>
              </a:rPr>
              <a:t>Logout Option</a:t>
            </a:r>
            <a:endParaRPr lang="en-US" sz="2150" dirty="0"/>
          </a:p>
        </p:txBody>
      </p:sp>
      <p:sp>
        <p:nvSpPr>
          <p:cNvPr id="24" name="Text 22"/>
          <p:cNvSpPr/>
          <p:nvPr/>
        </p:nvSpPr>
        <p:spPr>
          <a:xfrm>
            <a:off x="991791" y="7010757"/>
            <a:ext cx="12646700" cy="343614"/>
          </a:xfrm>
          <a:prstGeom prst="rect">
            <a:avLst/>
          </a:prstGeom>
          <a:noFill/>
          <a:ln/>
        </p:spPr>
        <p:txBody>
          <a:bodyPr wrap="none" lIns="0" tIns="0" rIns="0" bIns="0" rtlCol="0" anchor="t"/>
          <a:lstStyle/>
          <a:p>
            <a:pPr marL="0" indent="0" algn="l">
              <a:lnSpc>
                <a:spcPts val="2700"/>
              </a:lnSpc>
              <a:buNone/>
            </a:pPr>
            <a:r>
              <a:rPr lang="en-US" sz="1700" dirty="0">
                <a:solidFill>
                  <a:srgbClr val="FFFFFF"/>
                </a:solidFill>
                <a:latin typeface="Funnel Sans" pitchFamily="34" charset="0"/>
                <a:ea typeface="Funnel Sans" pitchFamily="34" charset="-122"/>
                <a:cs typeface="Funnel Sans" pitchFamily="34" charset="-120"/>
              </a:rPr>
              <a:t>Securely exits the user session.</a:t>
            </a:r>
            <a:endParaRPr lang="en-US" sz="1700" dirty="0"/>
          </a:p>
        </p:txBody>
      </p:sp>
      <p:sp>
        <p:nvSpPr>
          <p:cNvPr id="25" name="Rectangle 24">
            <a:extLst>
              <a:ext uri="{FF2B5EF4-FFF2-40B4-BE49-F238E27FC236}">
                <a16:creationId xmlns:a16="http://schemas.microsoft.com/office/drawing/2014/main" id="{4B36E615-0290-94E3-1DD1-37A19D0495A2}"/>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81532"/>
            <a:ext cx="13042821" cy="2126456"/>
          </a:xfrm>
          <a:prstGeom prst="rect">
            <a:avLst/>
          </a:prstGeom>
          <a:noFill/>
          <a:ln/>
        </p:spPr>
        <p:txBody>
          <a:bodyPr wrap="none" lIns="0" tIns="0" rIns="0" bIns="0" rtlCol="0" anchor="t"/>
          <a:lstStyle/>
          <a:p>
            <a:pPr marL="0" indent="0" algn="l">
              <a:lnSpc>
                <a:spcPts val="16700"/>
              </a:lnSpc>
              <a:buNone/>
            </a:pPr>
            <a:r>
              <a:rPr lang="en-US" sz="13350" dirty="0">
                <a:solidFill>
                  <a:srgbClr val="DDDDDD"/>
                </a:solidFill>
                <a:latin typeface="Mona Sans Semi Bold" pitchFamily="34" charset="0"/>
                <a:ea typeface="Mona Sans Semi Bold" pitchFamily="34" charset="-122"/>
                <a:cs typeface="Mona Sans Semi Bold" pitchFamily="34" charset="-120"/>
              </a:rPr>
              <a:t>Thank You</a:t>
            </a:r>
            <a:endParaRPr lang="en-US" sz="13350" dirty="0"/>
          </a:p>
        </p:txBody>
      </p:sp>
      <p:sp>
        <p:nvSpPr>
          <p:cNvPr id="3" name="Text 1"/>
          <p:cNvSpPr/>
          <p:nvPr/>
        </p:nvSpPr>
        <p:spPr>
          <a:xfrm>
            <a:off x="793790" y="4248150"/>
            <a:ext cx="13042821" cy="1133951"/>
          </a:xfrm>
          <a:prstGeom prst="rect">
            <a:avLst/>
          </a:prstGeom>
          <a:noFill/>
          <a:ln/>
        </p:spPr>
        <p:txBody>
          <a:bodyPr wrap="square" lIns="0" tIns="0" rIns="0" bIns="0" rtlCol="0" anchor="t"/>
          <a:lstStyle/>
          <a:p>
            <a:pPr marL="0" indent="0" algn="l">
              <a:lnSpc>
                <a:spcPts val="4450"/>
              </a:lnSpc>
              <a:buNone/>
            </a:pPr>
            <a:r>
              <a:rPr lang="en-US" sz="3550" dirty="0">
                <a:solidFill>
                  <a:srgbClr val="DDDDDD"/>
                </a:solidFill>
                <a:latin typeface="Mona Sans Semi Bold" pitchFamily="34" charset="0"/>
                <a:ea typeface="Mona Sans Semi Bold" pitchFamily="34" charset="-122"/>
                <a:cs typeface="Mona Sans Semi Bold" pitchFamily="34" charset="-120"/>
              </a:rPr>
              <a:t>MedVision AI: AI-Powered Medical Imaging Diagnosis System</a:t>
            </a:r>
            <a:endParaRPr lang="en-US" sz="3550" dirty="0"/>
          </a:p>
        </p:txBody>
      </p:sp>
      <p:sp>
        <p:nvSpPr>
          <p:cNvPr id="4" name="Text 2"/>
          <p:cNvSpPr/>
          <p:nvPr/>
        </p:nvSpPr>
        <p:spPr>
          <a:xfrm>
            <a:off x="793790" y="572226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We appreciate your time and attention to our project. MedVision AI is poised to make a significant impact on medical diagnostics, enhancing efficiency and accuracy for healthcare professionals worldwide.</a:t>
            </a:r>
            <a:endParaRPr lang="en-US" sz="1750" dirty="0"/>
          </a:p>
        </p:txBody>
      </p:sp>
      <p:sp>
        <p:nvSpPr>
          <p:cNvPr id="5" name="Rectangle 4">
            <a:extLst>
              <a:ext uri="{FF2B5EF4-FFF2-40B4-BE49-F238E27FC236}">
                <a16:creationId xmlns:a16="http://schemas.microsoft.com/office/drawing/2014/main" id="{9A765443-FA4A-4BD8-1D4E-9C5F24B17648}"/>
              </a:ext>
            </a:extLst>
          </p:cNvPr>
          <p:cNvSpPr/>
          <p:nvPr/>
        </p:nvSpPr>
        <p:spPr>
          <a:xfrm>
            <a:off x="12801600" y="7674796"/>
            <a:ext cx="1736333" cy="462337"/>
          </a:xfrm>
          <a:prstGeom prst="rect">
            <a:avLst/>
          </a:prstGeom>
          <a:solidFill>
            <a:srgbClr val="1A1818"/>
          </a:solidFill>
          <a:ln>
            <a:solidFill>
              <a:srgbClr val="1A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873</Words>
  <Application>Microsoft Office PowerPoint</Application>
  <PresentationFormat>Custom</PresentationFormat>
  <Paragraphs>111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Funnel Sans</vt:lpstr>
      <vt:lpstr>Arial</vt:lpstr>
      <vt:lpstr>Mona Sans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Akhilesh Kulkarni</cp:lastModifiedBy>
  <cp:revision>2</cp:revision>
  <dcterms:created xsi:type="dcterms:W3CDTF">2026-02-27T06:38:14Z</dcterms:created>
  <dcterms:modified xsi:type="dcterms:W3CDTF">2026-02-27T06:41:58Z</dcterms:modified>
</cp:coreProperties>
</file>